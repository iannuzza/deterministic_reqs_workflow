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93" r:id="rId2"/>
    <p:sldId id="290" r:id="rId3"/>
    <p:sldId id="294" r:id="rId4"/>
    <p:sldId id="301" r:id="rId5"/>
    <p:sldId id="295" r:id="rId6"/>
    <p:sldId id="296" r:id="rId7"/>
    <p:sldId id="297" r:id="rId8"/>
    <p:sldId id="298" r:id="rId9"/>
    <p:sldId id="302" r:id="rId10"/>
    <p:sldId id="300" r:id="rId11"/>
    <p:sldId id="292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C9DB1F-F246-422E-9D69-5E2B0FB7BEA5}">
          <p14:sldIdLst>
            <p14:sldId id="293"/>
            <p14:sldId id="290"/>
            <p14:sldId id="294"/>
            <p14:sldId id="301"/>
            <p14:sldId id="295"/>
            <p14:sldId id="296"/>
            <p14:sldId id="297"/>
            <p14:sldId id="298"/>
            <p14:sldId id="302"/>
            <p14:sldId id="300"/>
            <p14:sldId id="292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007E"/>
    <a:srgbClr val="8C0078"/>
    <a:srgbClr val="04572F"/>
    <a:srgbClr val="EEEFF1"/>
    <a:srgbClr val="A6ADB5"/>
    <a:srgbClr val="8191A5"/>
    <a:srgbClr val="C0C8D2"/>
    <a:srgbClr val="525A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01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.com/trademarks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  <p:pic>
        <p:nvPicPr>
          <p:cNvPr id="6" name="Graphic 7">
            <a:extLst>
              <a:ext uri="{FF2B5EF4-FFF2-40B4-BE49-F238E27FC236}">
                <a16:creationId xmlns:a16="http://schemas.microsoft.com/office/drawing/2014/main" id="{0A935D2C-8C8E-184B-D8FC-8FF74926C0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4" name="Graphic 14">
            <a:extLst>
              <a:ext uri="{FF2B5EF4-FFF2-40B4-BE49-F238E27FC236}">
                <a16:creationId xmlns:a16="http://schemas.microsoft.com/office/drawing/2014/main" id="{70CC30A6-5943-4618-79CD-9E122FDCAE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9F09FF-C8AF-EE46-958B-11187A34AAE5}"/>
              </a:ext>
            </a:extLst>
          </p:cNvPr>
          <p:cNvSpPr/>
          <p:nvPr userDrawn="1"/>
        </p:nvSpPr>
        <p:spPr>
          <a:xfrm>
            <a:off x="-228" y="0"/>
            <a:ext cx="3002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7B0BAF98-BF01-8628-815D-6C637563DA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66135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F8E72F1-E261-A4D3-03FD-FCC35198792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C8CE8D-FE25-40F5-A966-5717F85ACF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959336" y="1565049"/>
              <a:ext cx="6273328" cy="228010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94F7AD-3707-136B-D04F-5BE5160AF4A4}"/>
                </a:ext>
              </a:extLst>
            </p:cNvPr>
            <p:cNvSpPr/>
            <p:nvPr userDrawn="1"/>
          </p:nvSpPr>
          <p:spPr>
            <a:xfrm>
              <a:off x="0" y="5580993"/>
              <a:ext cx="12192000" cy="12770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70C644-A64B-B0FF-7271-99A256079D04}"/>
                </a:ext>
              </a:extLst>
            </p:cNvPr>
            <p:cNvSpPr/>
            <p:nvPr userDrawn="1"/>
          </p:nvSpPr>
          <p:spPr>
            <a:xfrm>
              <a:off x="219558" y="5822714"/>
              <a:ext cx="939521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  <a:t>© STMicroelectronics - All rights reserved.</a:t>
              </a:r>
              <a:b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ST logo is a trademark or a registered trademark of STMicroelectronics International NV or its affiliates in the EU and/or other countries. For additional information about ST trademarks, please refer to 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www.st.com/trademarks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. </a:t>
              </a:r>
              <a:b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All other product or service names are the property of their respective owners.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F6297DC-F8E9-1EA8-8CF6-587BC0B48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66753" y="5668010"/>
              <a:ext cx="1591910" cy="109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00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33052DD4-CDE3-4E33-AB80-AED4CE4AC39A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1749DD-5CB4-BAFF-5C24-97F0F00F15F6}"/>
              </a:ext>
            </a:extLst>
          </p:cNvPr>
          <p:cNvGrpSpPr/>
          <p:nvPr userDrawn="1"/>
        </p:nvGrpSpPr>
        <p:grpSpPr>
          <a:xfrm>
            <a:off x="-350520" y="4319928"/>
            <a:ext cx="317500" cy="952500"/>
            <a:chOff x="-342900" y="4319928"/>
            <a:chExt cx="317500" cy="952500"/>
          </a:xfrm>
        </p:grpSpPr>
        <p:sp>
          <p:nvSpPr>
            <p:cNvPr id="43" name="ColorPatch">
              <a:extLst>
                <a:ext uri="{FF2B5EF4-FFF2-40B4-BE49-F238E27FC236}">
                  <a16:creationId xmlns:a16="http://schemas.microsoft.com/office/drawing/2014/main" id="{A2E2F886-C330-51CE-B5C9-AB46F1404BB1}"/>
                </a:ext>
              </a:extLst>
            </p:cNvPr>
            <p:cNvSpPr/>
            <p:nvPr userDrawn="1"/>
          </p:nvSpPr>
          <p:spPr>
            <a:xfrm>
              <a:off x="-342900" y="4954928"/>
              <a:ext cx="317500" cy="317500"/>
            </a:xfrm>
            <a:prstGeom prst="rect">
              <a:avLst/>
            </a:prstGeom>
            <a:solidFill>
              <a:srgbClr val="EEEFF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4" name="ColorPatch">
              <a:extLst>
                <a:ext uri="{FF2B5EF4-FFF2-40B4-BE49-F238E27FC236}">
                  <a16:creationId xmlns:a16="http://schemas.microsoft.com/office/drawing/2014/main" id="{FDB36328-023C-D8C1-7E6B-A648091D0ED0}"/>
                </a:ext>
              </a:extLst>
            </p:cNvPr>
            <p:cNvSpPr/>
            <p:nvPr userDrawn="1"/>
          </p:nvSpPr>
          <p:spPr>
            <a:xfrm>
              <a:off x="-342900" y="4637428"/>
              <a:ext cx="317500" cy="317500"/>
            </a:xfrm>
            <a:prstGeom prst="rect">
              <a:avLst/>
            </a:prstGeom>
            <a:solidFill>
              <a:srgbClr val="A6ADB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5" name="ColorPatch">
              <a:extLst>
                <a:ext uri="{FF2B5EF4-FFF2-40B4-BE49-F238E27FC236}">
                  <a16:creationId xmlns:a16="http://schemas.microsoft.com/office/drawing/2014/main" id="{9F8E65A1-0412-05F6-3F82-8EB79873A102}"/>
                </a:ext>
              </a:extLst>
            </p:cNvPr>
            <p:cNvSpPr/>
            <p:nvPr userDrawn="1"/>
          </p:nvSpPr>
          <p:spPr>
            <a:xfrm>
              <a:off x="-342900" y="4319928"/>
              <a:ext cx="317500" cy="317500"/>
            </a:xfrm>
            <a:prstGeom prst="rect">
              <a:avLst/>
            </a:prstGeom>
            <a:solidFill>
              <a:srgbClr val="525A63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32C244-0C14-30D0-0478-36AA2A9F0B44}"/>
              </a:ext>
            </a:extLst>
          </p:cNvPr>
          <p:cNvGrpSpPr/>
          <p:nvPr userDrawn="1"/>
        </p:nvGrpSpPr>
        <p:grpSpPr>
          <a:xfrm>
            <a:off x="-350520" y="2879952"/>
            <a:ext cx="317500" cy="1270000"/>
            <a:chOff x="-342900" y="2879952"/>
            <a:chExt cx="317500" cy="1270000"/>
          </a:xfrm>
        </p:grpSpPr>
        <p:sp>
          <p:nvSpPr>
            <p:cNvPr id="50" name="ColorPatch">
              <a:extLst>
                <a:ext uri="{FF2B5EF4-FFF2-40B4-BE49-F238E27FC236}">
                  <a16:creationId xmlns:a16="http://schemas.microsoft.com/office/drawing/2014/main" id="{31E1361B-325C-EE46-1B21-F5A3ABF1D2F3}"/>
                </a:ext>
              </a:extLst>
            </p:cNvPr>
            <p:cNvSpPr/>
            <p:nvPr userDrawn="1"/>
          </p:nvSpPr>
          <p:spPr>
            <a:xfrm>
              <a:off x="-342900" y="3832452"/>
              <a:ext cx="317500" cy="317500"/>
            </a:xfrm>
            <a:prstGeom prst="rect">
              <a:avLst/>
            </a:prstGeom>
            <a:solidFill>
              <a:srgbClr val="FFF4B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1" name="ColorPatch">
              <a:extLst>
                <a:ext uri="{FF2B5EF4-FFF2-40B4-BE49-F238E27FC236}">
                  <a16:creationId xmlns:a16="http://schemas.microsoft.com/office/drawing/2014/main" id="{721D0BC2-53DB-3884-688A-247574811D85}"/>
                </a:ext>
              </a:extLst>
            </p:cNvPr>
            <p:cNvSpPr/>
            <p:nvPr userDrawn="1"/>
          </p:nvSpPr>
          <p:spPr>
            <a:xfrm>
              <a:off x="-342900" y="3515520"/>
              <a:ext cx="317500" cy="317500"/>
            </a:xfrm>
            <a:prstGeom prst="rect">
              <a:avLst/>
            </a:prstGeom>
            <a:solidFill>
              <a:srgbClr val="FFE87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2" name="ColorPatch">
              <a:extLst>
                <a:ext uri="{FF2B5EF4-FFF2-40B4-BE49-F238E27FC236}">
                  <a16:creationId xmlns:a16="http://schemas.microsoft.com/office/drawing/2014/main" id="{3D10437D-D613-EB33-523B-3A294D6295FE}"/>
                </a:ext>
              </a:extLst>
            </p:cNvPr>
            <p:cNvSpPr/>
            <p:nvPr userDrawn="1"/>
          </p:nvSpPr>
          <p:spPr>
            <a:xfrm>
              <a:off x="-342900" y="3197452"/>
              <a:ext cx="317500" cy="317500"/>
            </a:xfrm>
            <a:prstGeom prst="rect">
              <a:avLst/>
            </a:prstGeom>
            <a:solidFill>
              <a:srgbClr val="FFDD4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3" name="ColorPatch">
              <a:extLst>
                <a:ext uri="{FF2B5EF4-FFF2-40B4-BE49-F238E27FC236}">
                  <a16:creationId xmlns:a16="http://schemas.microsoft.com/office/drawing/2014/main" id="{7605F83F-A2B9-B477-973E-B28376961D98}"/>
                </a:ext>
              </a:extLst>
            </p:cNvPr>
            <p:cNvSpPr/>
            <p:nvPr userDrawn="1"/>
          </p:nvSpPr>
          <p:spPr>
            <a:xfrm>
              <a:off x="-342900" y="2879952"/>
              <a:ext cx="317500" cy="317500"/>
            </a:xfrm>
            <a:prstGeom prst="rect">
              <a:avLst/>
            </a:prstGeom>
            <a:solidFill>
              <a:srgbClr val="FFD20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5168C8-3C72-052F-C7C0-7CD4B023E7F9}"/>
              </a:ext>
            </a:extLst>
          </p:cNvPr>
          <p:cNvGrpSpPr/>
          <p:nvPr userDrawn="1"/>
        </p:nvGrpSpPr>
        <p:grpSpPr>
          <a:xfrm>
            <a:off x="-350520" y="1439976"/>
            <a:ext cx="317500" cy="1270000"/>
            <a:chOff x="-342900" y="1439976"/>
            <a:chExt cx="317500" cy="1270000"/>
          </a:xfrm>
        </p:grpSpPr>
        <p:sp>
          <p:nvSpPr>
            <p:cNvPr id="55" name="ColorPatch">
              <a:extLst>
                <a:ext uri="{FF2B5EF4-FFF2-40B4-BE49-F238E27FC236}">
                  <a16:creationId xmlns:a16="http://schemas.microsoft.com/office/drawing/2014/main" id="{4A6E12F2-EF64-A2CC-1E25-B6F6B23289F8}"/>
                </a:ext>
              </a:extLst>
            </p:cNvPr>
            <p:cNvSpPr/>
            <p:nvPr userDrawn="1"/>
          </p:nvSpPr>
          <p:spPr>
            <a:xfrm>
              <a:off x="-342900" y="2392476"/>
              <a:ext cx="317500" cy="317500"/>
            </a:xfrm>
            <a:prstGeom prst="rect">
              <a:avLst/>
            </a:prstGeom>
            <a:solidFill>
              <a:srgbClr val="CEECF9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6" name="ColorPatch">
              <a:extLst>
                <a:ext uri="{FF2B5EF4-FFF2-40B4-BE49-F238E27FC236}">
                  <a16:creationId xmlns:a16="http://schemas.microsoft.com/office/drawing/2014/main" id="{DF4090A9-80E3-4F93-64FD-1A4F5C9704A1}"/>
                </a:ext>
              </a:extLst>
            </p:cNvPr>
            <p:cNvSpPr/>
            <p:nvPr userDrawn="1"/>
          </p:nvSpPr>
          <p:spPr>
            <a:xfrm>
              <a:off x="-342900" y="2074976"/>
              <a:ext cx="317500" cy="317500"/>
            </a:xfrm>
            <a:prstGeom prst="rect">
              <a:avLst/>
            </a:prstGeom>
            <a:solidFill>
              <a:srgbClr val="9DD9F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7" name="ColorPatch">
              <a:extLst>
                <a:ext uri="{FF2B5EF4-FFF2-40B4-BE49-F238E27FC236}">
                  <a16:creationId xmlns:a16="http://schemas.microsoft.com/office/drawing/2014/main" id="{383C7A3C-7DEE-3289-0A64-6DC893E895F6}"/>
                </a:ext>
              </a:extLst>
            </p:cNvPr>
            <p:cNvSpPr/>
            <p:nvPr userDrawn="1"/>
          </p:nvSpPr>
          <p:spPr>
            <a:xfrm>
              <a:off x="-342900" y="1757476"/>
              <a:ext cx="317500" cy="317500"/>
            </a:xfrm>
            <a:prstGeom prst="rect">
              <a:avLst/>
            </a:prstGeom>
            <a:solidFill>
              <a:srgbClr val="6DC7EC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8" name="ColorPatch">
              <a:extLst>
                <a:ext uri="{FF2B5EF4-FFF2-40B4-BE49-F238E27FC236}">
                  <a16:creationId xmlns:a16="http://schemas.microsoft.com/office/drawing/2014/main" id="{199B6E69-48B5-574D-A56E-8532B8036346}"/>
                </a:ext>
              </a:extLst>
            </p:cNvPr>
            <p:cNvSpPr/>
            <p:nvPr userDrawn="1"/>
          </p:nvSpPr>
          <p:spPr>
            <a:xfrm>
              <a:off x="-342900" y="1439976"/>
              <a:ext cx="317500" cy="317500"/>
            </a:xfrm>
            <a:prstGeom prst="rect">
              <a:avLst/>
            </a:prstGeom>
            <a:solidFill>
              <a:srgbClr val="3CB4E6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76E4B5F-4E90-DA3A-7C84-81947655F1ED}"/>
              </a:ext>
            </a:extLst>
          </p:cNvPr>
          <p:cNvGrpSpPr/>
          <p:nvPr userDrawn="1"/>
        </p:nvGrpSpPr>
        <p:grpSpPr>
          <a:xfrm>
            <a:off x="-350520" y="0"/>
            <a:ext cx="317500" cy="1271047"/>
            <a:chOff x="-342900" y="0"/>
            <a:chExt cx="317500" cy="1271047"/>
          </a:xfrm>
        </p:grpSpPr>
        <p:sp>
          <p:nvSpPr>
            <p:cNvPr id="60" name="ColorPatch">
              <a:extLst>
                <a:ext uri="{FF2B5EF4-FFF2-40B4-BE49-F238E27FC236}">
                  <a16:creationId xmlns:a16="http://schemas.microsoft.com/office/drawing/2014/main" id="{E8CC3E9E-61E4-65A9-2FB7-B210351E32AB}"/>
                </a:ext>
              </a:extLst>
            </p:cNvPr>
            <p:cNvSpPr/>
            <p:nvPr userDrawn="1"/>
          </p:nvSpPr>
          <p:spPr>
            <a:xfrm>
              <a:off x="-342900" y="953547"/>
              <a:ext cx="317500" cy="317500"/>
            </a:xfrm>
            <a:prstGeom prst="rect">
              <a:avLst/>
            </a:prstGeom>
            <a:solidFill>
              <a:srgbClr val="C0C8D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1" name="ColorPatch">
              <a:extLst>
                <a:ext uri="{FF2B5EF4-FFF2-40B4-BE49-F238E27FC236}">
                  <a16:creationId xmlns:a16="http://schemas.microsoft.com/office/drawing/2014/main" id="{52979BF7-37B7-C9E0-012F-AF2421299EA0}"/>
                </a:ext>
              </a:extLst>
            </p:cNvPr>
            <p:cNvSpPr/>
            <p:nvPr userDrawn="1"/>
          </p:nvSpPr>
          <p:spPr>
            <a:xfrm>
              <a:off x="-342900" y="635000"/>
              <a:ext cx="317500" cy="317500"/>
            </a:xfrm>
            <a:prstGeom prst="rect">
              <a:avLst/>
            </a:prstGeom>
            <a:solidFill>
              <a:srgbClr val="8191A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2" name="ColorPatch">
              <a:extLst>
                <a:ext uri="{FF2B5EF4-FFF2-40B4-BE49-F238E27FC236}">
                  <a16:creationId xmlns:a16="http://schemas.microsoft.com/office/drawing/2014/main" id="{4F93A17E-06C6-9F0F-291B-C51A93E99B57}"/>
                </a:ext>
              </a:extLst>
            </p:cNvPr>
            <p:cNvSpPr/>
            <p:nvPr userDrawn="1"/>
          </p:nvSpPr>
          <p:spPr>
            <a:xfrm>
              <a:off x="-342900" y="317500"/>
              <a:ext cx="317500" cy="317500"/>
            </a:xfrm>
            <a:prstGeom prst="rect">
              <a:avLst/>
            </a:prstGeom>
            <a:solidFill>
              <a:srgbClr val="425A78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3" name="ColorPatch">
              <a:extLst>
                <a:ext uri="{FF2B5EF4-FFF2-40B4-BE49-F238E27FC236}">
                  <a16:creationId xmlns:a16="http://schemas.microsoft.com/office/drawing/2014/main" id="{435540DC-615B-FEFF-859B-65830CAC8FD4}"/>
                </a:ext>
              </a:extLst>
            </p:cNvPr>
            <p:cNvSpPr/>
            <p:nvPr userDrawn="1"/>
          </p:nvSpPr>
          <p:spPr>
            <a:xfrm>
              <a:off x="-342900" y="0"/>
              <a:ext cx="317500" cy="317500"/>
            </a:xfrm>
            <a:prstGeom prst="rect">
              <a:avLst/>
            </a:prstGeom>
            <a:solidFill>
              <a:srgbClr val="03234B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1B25AE6E-5128-CFAA-FFCC-CE0BB6C809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671" r:id="rId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hyperlink" Target="http://www.st.com/" TargetMode="Externa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randportal.s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STBIO_AI Workflow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Template-based compact view</a:t>
            </a:r>
          </a:p>
          <a:p>
            <a:pPr>
              <a:defRPr sz="1800"/>
            </a:pPr>
            <a:r>
              <a:t>Agents pipeline + Orchestrator + Crosscheckers + CLI + Skills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C006ACC-E987-C7A7-3422-103A76A405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B3432E-AE69-5F85-0FC5-BB84AD77E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8BE283-3F05-E017-3083-62357D85AB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1649" y="1487433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1CEAB7B2-18FF-0F8A-4F0E-13BCDDA0C8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25ABBE-4D09-483B-5C21-E45ACF14AB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91649" y="2624425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C9F1601A-C562-E0EB-4DA5-35272C971F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A4DC94-3104-7B9D-1C3F-226D735233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91649" y="3761417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BE17351-FECB-90FB-FC8B-21FE515491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3B923B5-21FB-5D6E-C8AF-C55874717F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1649" y="4898408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3A796A7-59BA-96DB-B4E2-051CD044BD8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C0EDDEC-C159-3CA4-8580-ED598064B3B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887611" y="1487433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2E3F8495-6BFB-B003-7D8D-06A0F6B6E52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409FD5-92A9-6C0D-B523-BE46615AB5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887611" y="2624425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D5812348-DC9C-298C-78E8-778E568C3C8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8553CA5-37D8-ED06-91E8-F0CCB019204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887611" y="3761417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480372B2-A31B-2B16-C85F-4BD58C06129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F846565-D8A4-51A3-B78C-F5826B0A81A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887611" y="4898408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1550064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Main Steps (Stage 0 to Stage 6)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E97C2F8-BF47-51C2-8D7D-3C3A7874F9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BCB3FC-F524-2C2C-71D7-7FCD7BF0A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Steps (Stage 0 to Stage 6)</a:t>
            </a:r>
          </a:p>
        </p:txBody>
      </p:sp>
      <p:sp>
        <p:nvSpPr>
          <p:cNvPr id="4" name="Subtitle 2"/>
          <p:cNvSpPr>
            <a:spLocks noGrp="1"/>
          </p:cNvSpPr>
          <p:nvPr>
            <p:ph idx="1"/>
          </p:nvPr>
        </p:nvSpPr>
        <p:spPr>
          <a:xfrm>
            <a:off x="300038" y="1484313"/>
            <a:ext cx="11591925" cy="4608512"/>
          </a:xfrm>
        </p:spPr>
        <p:txBody>
          <a:bodyPr/>
          <a:lstStyle/>
          <a:p>
            <a:pPr>
              <a:defRPr sz="2000"/>
            </a:pPr>
            <a:r>
              <a:rPr sz="1800" dirty="0"/>
              <a:t>Stage 0: Ontology baseline and Gate 0</a:t>
            </a:r>
          </a:p>
          <a:p>
            <a:pPr>
              <a:defRPr sz="1800"/>
            </a:pPr>
            <a:r>
              <a:rPr sz="1800" dirty="0"/>
              <a:t>Stage 1: Requirements extraction + taxonomy + strict RAG/evidence checks and Gate 1</a:t>
            </a:r>
          </a:p>
          <a:p>
            <a:pPr>
              <a:defRPr sz="1800"/>
            </a:pPr>
            <a:r>
              <a:rPr sz="1800" dirty="0"/>
              <a:t>Stage 2: Specs formalization and Gate 2</a:t>
            </a:r>
          </a:p>
          <a:p>
            <a:pPr>
              <a:defRPr sz="1800"/>
            </a:pPr>
            <a:r>
              <a:rPr sz="1800" dirty="0"/>
              <a:t>Stage 2a: Micro-architecture synthesis + crosscheck (Decision: go) + gate</a:t>
            </a:r>
          </a:p>
          <a:p>
            <a:pPr>
              <a:defRPr sz="1800"/>
            </a:pPr>
            <a:r>
              <a:rPr sz="1800" dirty="0"/>
              <a:t>Stage 3: SRS generation + crosschecks + Stage 3 gate	</a:t>
            </a:r>
            <a:r>
              <a:rPr lang="en-US" sz="1800" dirty="0"/>
              <a:t>(System Req Spec – Mixed signal)</a:t>
            </a:r>
            <a:endParaRPr sz="1800" dirty="0"/>
          </a:p>
          <a:p>
            <a:pPr>
              <a:defRPr sz="1800"/>
            </a:pPr>
            <a:r>
              <a:rPr sz="1800" dirty="0"/>
              <a:t>Stage 4: ARS generation + crosschecks + Stage 4 gate	</a:t>
            </a:r>
            <a:r>
              <a:rPr lang="en-US" sz="1800" dirty="0"/>
              <a:t>(Analog Req Spec)</a:t>
            </a:r>
            <a:endParaRPr sz="1800" dirty="0"/>
          </a:p>
          <a:p>
            <a:pPr>
              <a:defRPr sz="1800"/>
            </a:pPr>
            <a:r>
              <a:rPr sz="1800" dirty="0"/>
              <a:t>Stage 5: DRS generation + crosschecks + Stage 5 gate	</a:t>
            </a:r>
            <a:r>
              <a:rPr lang="en-US" sz="1800" dirty="0"/>
              <a:t>(Digital Req Spec)</a:t>
            </a:r>
            <a:endParaRPr sz="1800" dirty="0"/>
          </a:p>
          <a:p>
            <a:pPr>
              <a:defRPr sz="1800"/>
            </a:pPr>
            <a:r>
              <a:rPr sz="1800" dirty="0"/>
              <a:t>Stage 6: Cross-project architecture comparison (standalone after Stage 5)</a:t>
            </a:r>
          </a:p>
          <a:p>
            <a:pPr>
              <a:defRPr sz="1800"/>
            </a:pPr>
            <a:r>
              <a:rPr sz="1800" dirty="0"/>
              <a:t>Fail-fast rule: unresolved hard checks stop the pipeline before the next stage</a:t>
            </a:r>
          </a:p>
        </p:txBody>
      </p:sp>
    </p:spTree>
    <p:extLst>
      <p:ext uri="{BB962C8B-B14F-4D97-AF65-F5344CB8AC3E}">
        <p14:creationId xmlns:p14="http://schemas.microsoft.com/office/powerpoint/2010/main" val="1919288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Compact Workflow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99" y="1005840"/>
            <a:ext cx="2815389" cy="731520"/>
          </a:xfrm>
          <a:prstGeom prst="roundRect">
            <a:avLst/>
          </a:prstGeom>
          <a:solidFill>
            <a:srgbClr val="E1E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>
                <a:solidFill>
                  <a:schemeClr val="tx1"/>
                </a:solidFill>
              </a:rPr>
              <a:t>Skill Layer</a:t>
            </a:r>
          </a:p>
          <a:p>
            <a:pPr algn="ctr"/>
            <a:r>
              <a:rPr dirty="0">
                <a:solidFill>
                  <a:schemeClr val="tx1"/>
                </a:solidFill>
              </a:rPr>
              <a:t>(Chronicle/Project Rules)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38349" y="1005840"/>
            <a:ext cx="1828800" cy="731520"/>
          </a:xfrm>
          <a:prstGeom prst="roundRect">
            <a:avLst/>
          </a:prstGeom>
          <a:solidFill>
            <a:srgbClr val="E1F4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chemeClr val="tx1"/>
                </a:solidFill>
              </a:rPr>
              <a:t>CLI</a:t>
            </a:r>
          </a:p>
          <a:p>
            <a:pPr algn="ctr"/>
            <a:r>
              <a:rPr>
                <a:solidFill>
                  <a:schemeClr val="tx1"/>
                </a:solidFill>
              </a:rPr>
              <a:t>workflow_cli.py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32909" y="946886"/>
            <a:ext cx="2926080" cy="914400"/>
          </a:xfrm>
          <a:prstGeom prst="roundRect">
            <a:avLst/>
          </a:prstGeom>
          <a:solidFill>
            <a:srgbClr val="FFEF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chemeClr val="tx1"/>
                </a:solidFill>
              </a:rPr>
              <a:t>Orchestrator</a:t>
            </a:r>
          </a:p>
          <a:p>
            <a:pPr algn="ctr"/>
            <a:r>
              <a:rPr>
                <a:solidFill>
                  <a:schemeClr val="tx1"/>
                </a:solidFill>
              </a:rPr>
              <a:t>run_stage*_gate.py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1325880" cy="868680"/>
          </a:xfrm>
          <a:prstGeom prst="round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chemeClr val="tx1"/>
                </a:solidFill>
              </a:rPr>
              <a:t>Stage 0</a:t>
            </a:r>
          </a:p>
          <a:p>
            <a:pPr algn="ctr"/>
            <a:r>
              <a:rPr>
                <a:solidFill>
                  <a:schemeClr val="tx1"/>
                </a:solidFill>
              </a:rPr>
              <a:t>Ontology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2468880"/>
            <a:ext cx="1325880" cy="868680"/>
          </a:xfrm>
          <a:prstGeom prst="round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chemeClr val="tx1"/>
                </a:solidFill>
              </a:rPr>
              <a:t>Stage 1</a:t>
            </a:r>
          </a:p>
          <a:p>
            <a:pPr algn="ctr"/>
            <a:r>
              <a:rPr>
                <a:solidFill>
                  <a:schemeClr val="tx1"/>
                </a:solidFill>
              </a:rPr>
              <a:t>Req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59" y="2468880"/>
            <a:ext cx="1460633" cy="868680"/>
          </a:xfrm>
          <a:prstGeom prst="round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>
                <a:solidFill>
                  <a:schemeClr val="tx1"/>
                </a:solidFill>
              </a:rPr>
              <a:t>Stage 2/2a</a:t>
            </a:r>
          </a:p>
          <a:p>
            <a:pPr algn="ctr"/>
            <a:r>
              <a:rPr dirty="0">
                <a:solidFill>
                  <a:schemeClr val="tx1"/>
                </a:solidFill>
              </a:rPr>
              <a:t>Specs+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dirty="0" err="1">
                <a:solidFill>
                  <a:schemeClr val="tx1"/>
                </a:solidFill>
              </a:rPr>
              <a:t>MicroArc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294697" y="2468880"/>
            <a:ext cx="1325880" cy="868680"/>
          </a:xfrm>
          <a:prstGeom prst="round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chemeClr val="tx1"/>
                </a:solidFill>
              </a:rPr>
              <a:t>Stage 3</a:t>
            </a:r>
          </a:p>
          <a:p>
            <a:pPr algn="ctr"/>
            <a:r>
              <a:rPr>
                <a:solidFill>
                  <a:schemeClr val="tx1"/>
                </a:solidFill>
              </a:rPr>
              <a:t>SRS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4509" y="2468880"/>
            <a:ext cx="1325880" cy="868680"/>
          </a:xfrm>
          <a:prstGeom prst="round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chemeClr val="tx1"/>
                </a:solidFill>
              </a:rPr>
              <a:t>Stage 4</a:t>
            </a:r>
          </a:p>
          <a:p>
            <a:pPr algn="ctr"/>
            <a:r>
              <a:rPr>
                <a:solidFill>
                  <a:schemeClr val="tx1"/>
                </a:solidFill>
              </a:rPr>
              <a:t>ARS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58989" y="2468880"/>
            <a:ext cx="1325880" cy="868680"/>
          </a:xfrm>
          <a:prstGeom prst="round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chemeClr val="tx1"/>
                </a:solidFill>
              </a:rPr>
              <a:t>Stage 5</a:t>
            </a:r>
          </a:p>
          <a:p>
            <a:pPr algn="ctr"/>
            <a:r>
              <a:rPr>
                <a:solidFill>
                  <a:schemeClr val="tx1"/>
                </a:solidFill>
              </a:rPr>
              <a:t>DRS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13469" y="2468880"/>
            <a:ext cx="1325880" cy="868680"/>
          </a:xfrm>
          <a:prstGeom prst="round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chemeClr val="tx1"/>
                </a:solidFill>
              </a:rPr>
              <a:t>Stage 6</a:t>
            </a:r>
          </a:p>
          <a:p>
            <a:pPr algn="ctr"/>
            <a:r>
              <a:rPr>
                <a:solidFill>
                  <a:schemeClr val="tx1"/>
                </a:solidFill>
              </a:rPr>
              <a:t>Compare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3931920"/>
            <a:ext cx="4572000" cy="914400"/>
          </a:xfrm>
          <a:prstGeom prst="roundRect">
            <a:avLst/>
          </a:prstGeom>
          <a:solidFill>
            <a:srgbClr val="FFE4E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chemeClr val="tx1"/>
                </a:solidFill>
              </a:rPr>
              <a:t>Crosscheckers + Validators</a:t>
            </a:r>
          </a:p>
          <a:p>
            <a:pPr algn="ctr"/>
            <a:r>
              <a:rPr>
                <a:solidFill>
                  <a:schemeClr val="tx1"/>
                </a:solidFill>
              </a:rPr>
              <a:t>(run_*_crosscheck_agent.py + validate_stage*_gate.py)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3931920"/>
            <a:ext cx="3200400" cy="914400"/>
          </a:xfrm>
          <a:prstGeom prst="roundRect">
            <a:avLst/>
          </a:prstGeom>
          <a:solidFill>
            <a:srgbClr val="E6E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chemeClr val="tx1"/>
                </a:solidFill>
              </a:rPr>
              <a:t>Artifacts + Reports</a:t>
            </a:r>
          </a:p>
          <a:p>
            <a:pPr algn="ctr"/>
            <a:r>
              <a:rPr>
                <a:solidFill>
                  <a:schemeClr val="tx1"/>
                </a:solidFill>
              </a:rPr>
              <a:t>(stage_*_result.md, specs, traces)</a:t>
            </a:r>
          </a:p>
        </p:txBody>
      </p:sp>
      <p:cxnSp>
        <p:nvCxnSpPr>
          <p:cNvPr id="15" name="Connector 14"/>
          <p:cNvCxnSpPr>
            <a:cxnSpLocks/>
            <a:stCxn id="3" idx="3"/>
            <a:endCxn id="4" idx="1"/>
          </p:cNvCxnSpPr>
          <p:nvPr/>
        </p:nvCxnSpPr>
        <p:spPr>
          <a:xfrm>
            <a:off x="3272588" y="1371600"/>
            <a:ext cx="365761" cy="0"/>
          </a:xfrm>
          <a:prstGeom prst="line">
            <a:avLst/>
          </a:prstGeom>
          <a:ln w="19050">
            <a:solidFill>
              <a:srgbClr val="505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67149" y="1404086"/>
            <a:ext cx="365760" cy="0"/>
          </a:xfrm>
          <a:prstGeom prst="line">
            <a:avLst/>
          </a:prstGeom>
          <a:ln w="19050">
            <a:solidFill>
              <a:srgbClr val="505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cxnSpLocks/>
          </p:cNvCxnSpPr>
          <p:nvPr/>
        </p:nvCxnSpPr>
        <p:spPr>
          <a:xfrm>
            <a:off x="6901313" y="1861286"/>
            <a:ext cx="0" cy="2070634"/>
          </a:xfrm>
          <a:prstGeom prst="line">
            <a:avLst/>
          </a:prstGeom>
          <a:ln w="19050">
            <a:solidFill>
              <a:srgbClr val="505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783080" y="2880360"/>
            <a:ext cx="228600" cy="0"/>
          </a:xfrm>
          <a:prstGeom prst="line">
            <a:avLst/>
          </a:prstGeom>
          <a:ln w="19050">
            <a:solidFill>
              <a:srgbClr val="505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337560" y="2880360"/>
            <a:ext cx="228600" cy="0"/>
          </a:xfrm>
          <a:prstGeom prst="line">
            <a:avLst/>
          </a:prstGeom>
          <a:ln w="19050">
            <a:solidFill>
              <a:srgbClr val="505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cxnSpLocks/>
            <a:stCxn id="8" idx="3"/>
            <a:endCxn id="9" idx="1"/>
          </p:cNvCxnSpPr>
          <p:nvPr/>
        </p:nvCxnSpPr>
        <p:spPr>
          <a:xfrm>
            <a:off x="5026792" y="2903220"/>
            <a:ext cx="267905" cy="0"/>
          </a:xfrm>
          <a:prstGeom prst="line">
            <a:avLst/>
          </a:prstGeom>
          <a:ln w="19050">
            <a:solidFill>
              <a:srgbClr val="505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cxnSpLocks/>
            <a:stCxn id="9" idx="3"/>
            <a:endCxn id="10" idx="1"/>
          </p:cNvCxnSpPr>
          <p:nvPr/>
        </p:nvCxnSpPr>
        <p:spPr>
          <a:xfrm>
            <a:off x="6620577" y="2903220"/>
            <a:ext cx="583932" cy="0"/>
          </a:xfrm>
          <a:prstGeom prst="line">
            <a:avLst/>
          </a:prstGeom>
          <a:ln w="19050">
            <a:solidFill>
              <a:srgbClr val="505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30389" y="2880360"/>
            <a:ext cx="228600" cy="0"/>
          </a:xfrm>
          <a:prstGeom prst="line">
            <a:avLst/>
          </a:prstGeom>
          <a:ln w="19050">
            <a:solidFill>
              <a:srgbClr val="505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84869" y="2880360"/>
            <a:ext cx="228600" cy="0"/>
          </a:xfrm>
          <a:prstGeom prst="line">
            <a:avLst/>
          </a:prstGeom>
          <a:ln w="19050">
            <a:solidFill>
              <a:srgbClr val="505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138160" y="4389120"/>
            <a:ext cx="365760" cy="0"/>
          </a:xfrm>
          <a:prstGeom prst="line">
            <a:avLst/>
          </a:prstGeom>
          <a:ln w="19050">
            <a:solidFill>
              <a:srgbClr val="505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5120639"/>
            <a:ext cx="109872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sz="1600" dirty="0"/>
              <a:t>Flow: </a:t>
            </a:r>
            <a:endParaRPr lang="en-US" sz="1600" dirty="0"/>
          </a:p>
          <a:p>
            <a:pPr marL="285750" indent="-285750">
              <a:buFontTx/>
              <a:buChar char="-"/>
              <a:defRPr sz="1400"/>
            </a:pPr>
            <a:r>
              <a:rPr sz="1600" dirty="0"/>
              <a:t>Skills and CLI guide the orchestrator, which executes stage agents; </a:t>
            </a:r>
            <a:endParaRPr lang="en-US" sz="1600" dirty="0"/>
          </a:p>
          <a:p>
            <a:pPr marL="285750" indent="-285750">
              <a:buFontTx/>
              <a:buChar char="-"/>
              <a:defRPr sz="1400"/>
            </a:pPr>
            <a:r>
              <a:rPr sz="1600" dirty="0"/>
              <a:t>crosscheckers and validators gate progress before artifacts are accepted.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Architecture 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979721"/>
            <a:ext cx="2926080" cy="914400"/>
          </a:xfrm>
          <a:prstGeom prst="roundRect">
            <a:avLst/>
          </a:prstGeom>
          <a:solidFill>
            <a:srgbClr val="D6EA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chemeClr val="tx1"/>
                </a:solidFill>
              </a:rPr>
              <a:t>User Interaction</a:t>
            </a:r>
          </a:p>
          <a:p>
            <a:pPr algn="ctr"/>
            <a:r>
              <a:rPr dirty="0">
                <a:solidFill>
                  <a:schemeClr val="tx1"/>
                </a:solidFill>
              </a:rPr>
              <a:t>Chat + Task Requests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28162" y="979721"/>
            <a:ext cx="2743200" cy="914400"/>
          </a:xfrm>
          <a:prstGeom prst="roundRect">
            <a:avLst/>
          </a:prstGeom>
          <a:solidFill>
            <a:srgbClr val="E8F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chemeClr val="tx1"/>
                </a:solidFill>
              </a:rPr>
              <a:t>Skill Layer</a:t>
            </a:r>
          </a:p>
          <a:p>
            <a:pPr algn="ctr"/>
            <a:r>
              <a:rPr dirty="0">
                <a:solidFill>
                  <a:schemeClr val="tx1"/>
                </a:solidFill>
              </a:rPr>
              <a:t>Rules + Prompt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979721"/>
            <a:ext cx="2651760" cy="914400"/>
          </a:xfrm>
          <a:prstGeom prst="roundRect">
            <a:avLst/>
          </a:prstGeom>
          <a:solidFill>
            <a:srgbClr val="FFF3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chemeClr val="tx1"/>
                </a:solidFill>
              </a:rPr>
              <a:t>CLI Layer</a:t>
            </a:r>
          </a:p>
          <a:p>
            <a:pPr algn="ctr"/>
            <a:r>
              <a:rPr dirty="0">
                <a:solidFill>
                  <a:schemeClr val="tx1"/>
                </a:solidFill>
              </a:rPr>
              <a:t>workflow_cli.py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2468880"/>
            <a:ext cx="5486400" cy="1005840"/>
          </a:xfrm>
          <a:prstGeom prst="roundRect">
            <a:avLst/>
          </a:prstGeom>
          <a:solidFill>
            <a:srgbClr val="FCE4E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chemeClr val="tx1"/>
                </a:solidFill>
              </a:rPr>
              <a:t>Orchestrator Core</a:t>
            </a:r>
          </a:p>
          <a:p>
            <a:pPr algn="ctr"/>
            <a:r>
              <a:rPr dirty="0">
                <a:solidFill>
                  <a:schemeClr val="tx1"/>
                </a:solidFill>
              </a:rPr>
              <a:t>run_stage*_gate.py + gate loop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760720" cy="109728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chemeClr val="tx1"/>
                </a:solidFill>
              </a:rPr>
              <a:t>Agents Pipeline</a:t>
            </a:r>
          </a:p>
          <a:p>
            <a:pPr algn="ctr"/>
            <a:r>
              <a:rPr dirty="0">
                <a:solidFill>
                  <a:schemeClr val="tx1"/>
                </a:solidFill>
              </a:rPr>
              <a:t>Stage 0 -&gt; 1 -&gt; 2 -&gt; 2a -&gt; 3 -&gt; 4 -&gt; 5 -&gt;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3840480"/>
            <a:ext cx="4572000" cy="1097280"/>
          </a:xfrm>
          <a:prstGeom prst="roundRect">
            <a:avLst/>
          </a:prstGeom>
          <a:solidFill>
            <a:srgbClr val="FFEB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chemeClr val="tx1"/>
                </a:solidFill>
              </a:rPr>
              <a:t>Crosscheckers + Validators</a:t>
            </a:r>
          </a:p>
          <a:p>
            <a:pPr algn="ctr"/>
            <a:r>
              <a:rPr dirty="0">
                <a:solidFill>
                  <a:schemeClr val="tx1"/>
                </a:solidFill>
              </a:rPr>
              <a:t>quality gates before accept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5394960"/>
            <a:ext cx="5486400" cy="822960"/>
          </a:xfrm>
          <a:prstGeom prst="roundRect">
            <a:avLst/>
          </a:prstGeom>
          <a:solidFill>
            <a:srgbClr val="EDE7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>
                <a:solidFill>
                  <a:schemeClr val="tx1"/>
                </a:solidFill>
              </a:rPr>
              <a:t>Business Outputs: Specs, Traceability, Stage Reports, Comparison Pack</a:t>
            </a:r>
          </a:p>
        </p:txBody>
      </p:sp>
      <p:cxnSp>
        <p:nvCxnSpPr>
          <p:cNvPr id="10" name="Connector 9"/>
          <p:cNvCxnSpPr>
            <a:cxnSpLocks/>
            <a:stCxn id="3" idx="3"/>
            <a:endCxn id="4" idx="1"/>
          </p:cNvCxnSpPr>
          <p:nvPr/>
        </p:nvCxnSpPr>
        <p:spPr>
          <a:xfrm>
            <a:off x="3566160" y="1436921"/>
            <a:ext cx="762002" cy="0"/>
          </a:xfrm>
          <a:prstGeom prst="line">
            <a:avLst/>
          </a:prstGeom>
          <a:ln w="25400">
            <a:solidFill>
              <a:srgbClr val="585858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  <a:stCxn id="4" idx="3"/>
            <a:endCxn id="5" idx="1"/>
          </p:cNvCxnSpPr>
          <p:nvPr/>
        </p:nvCxnSpPr>
        <p:spPr>
          <a:xfrm>
            <a:off x="7071362" y="1436921"/>
            <a:ext cx="1249678" cy="0"/>
          </a:xfrm>
          <a:prstGeom prst="line">
            <a:avLst/>
          </a:prstGeom>
          <a:ln w="25400">
            <a:solidFill>
              <a:srgbClr val="585858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1920240"/>
            <a:ext cx="0" cy="548640"/>
          </a:xfrm>
          <a:prstGeom prst="line">
            <a:avLst/>
          </a:prstGeom>
          <a:ln w="25400">
            <a:solidFill>
              <a:srgbClr val="585858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  <a:stCxn id="6" idx="2"/>
            <a:endCxn id="7" idx="0"/>
          </p:cNvCxnSpPr>
          <p:nvPr/>
        </p:nvCxnSpPr>
        <p:spPr>
          <a:xfrm flipH="1">
            <a:off x="3611880" y="3474720"/>
            <a:ext cx="1508760" cy="365760"/>
          </a:xfrm>
          <a:prstGeom prst="line">
            <a:avLst/>
          </a:prstGeom>
          <a:ln w="25400">
            <a:solidFill>
              <a:srgbClr val="585858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17920" y="3474720"/>
            <a:ext cx="2103120" cy="365760"/>
          </a:xfrm>
          <a:prstGeom prst="line">
            <a:avLst/>
          </a:prstGeom>
          <a:ln w="25400">
            <a:solidFill>
              <a:srgbClr val="585858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486400" y="4937760"/>
            <a:ext cx="0" cy="457200"/>
          </a:xfrm>
          <a:prstGeom prst="line">
            <a:avLst/>
          </a:prstGeom>
          <a:ln w="25400">
            <a:solidFill>
              <a:srgbClr val="585858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GUI Description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960408"/>
              </p:ext>
            </p:extLst>
          </p:nvPr>
        </p:nvGraphicFramePr>
        <p:xfrm>
          <a:off x="548640" y="105156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chemeClr val="tx1"/>
                          </a:solidFill>
                        </a:rPr>
                        <a:t>GUI area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400" dirty="0"/>
                        <a:t>Workflow Diagram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Displays Stage 0 to Stage 6 flow; the active stage is highlighted during a run and the diagram can scroll horizontally.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400"/>
                        <a:t>CLI Runs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Runs deterministic workflow commands and shows live process output, return codes, and stop-at-stage behavior.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400" dirty="0"/>
                        <a:t>Requirement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Shows extracted requirement records with horizontal scrolling for long statements and source evidence.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400"/>
                        <a:t>Live Chat Console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Accepts normal questions and local workflow commands;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400"/>
                        <a:t>AI 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OpenAI is the default selection. Auto priority is OpenAI, Azure, then Local; the masked API-key field supports session setup.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400"/>
                        <a:t>Local commands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/help, /run, /status, /validate, /taxonomy, /analyze log, /stop, and /clear run locally without an LLM.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400"/>
                        <a:t>Read-only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/analyze log and pasted error messages can be analyzed without allowing code fixes.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 dirty="0"/>
              <a:t>The GUI is an operator console: local commands remain available without AI credentials, while normal questions use the selected AI backend.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workflow_cli.py Command 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927374"/>
              </p:ext>
            </p:extLst>
          </p:nvPr>
        </p:nvGraphicFramePr>
        <p:xfrm>
          <a:off x="548640" y="109728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Command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When to use</a:t>
                      </a:r>
                    </a:p>
                  </a:txBody>
                  <a:tcPr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python scripts/workflow_cli.py --help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Show command reference and options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python scripts/workflow_cli.py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Inspect stage map and current runner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python scripts/workflow_cli.py run --from-stage 0 --to-stage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Run core pipeline in order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python scripts/workflow_cli.py run --stage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Execute a single stage quickly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python scripts/workflow_cli.py retry --stage 3 --max-loops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Bounded recovery for failed stages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python scripts/workflow_cli.py validate --all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Validate all gates; stop on missing evidence or hard-check failures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python scripts/workflow_cli.py arch-compare --project-to-compare &lt;project_name&gt;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Run Stage 6 architecture comparison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Tip: for predictable runs, use --max-loops-per-stage 1 in normal mode and retry only failing stages.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783701-9520-0217-5BB8-78DC70854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dirty="0"/>
              <a:t>python scripts/run_stage0_gate0.py</a:t>
            </a:r>
          </a:p>
          <a:p>
            <a:pPr>
              <a:defRPr sz="1800"/>
            </a:pPr>
            <a:r>
              <a:rPr lang="en-US" dirty="0"/>
              <a:t>python scripts/run_stage1_requirements_gate1.py</a:t>
            </a:r>
          </a:p>
          <a:p>
            <a:pPr>
              <a:defRPr sz="1800"/>
            </a:pPr>
            <a:r>
              <a:rPr lang="en-US" dirty="0"/>
              <a:t>python scripts/run_stage1_specs_gate2.py</a:t>
            </a:r>
          </a:p>
          <a:p>
            <a:pPr>
              <a:defRPr sz="1800"/>
            </a:pPr>
            <a:r>
              <a:rPr lang="en-US" dirty="0"/>
              <a:t>python scripts/run_stage2_micro_arc_gate.py</a:t>
            </a:r>
          </a:p>
          <a:p>
            <a:pPr>
              <a:defRPr sz="1800"/>
            </a:pPr>
            <a:r>
              <a:rPr lang="en-US" dirty="0"/>
              <a:t>python scripts/run_stage3_srs_gate.py</a:t>
            </a:r>
          </a:p>
          <a:p>
            <a:pPr>
              <a:defRPr sz="1800"/>
            </a:pPr>
            <a:r>
              <a:rPr lang="en-US" dirty="0"/>
              <a:t>python scripts/run_stage4_ars_gate.py</a:t>
            </a:r>
          </a:p>
          <a:p>
            <a:pPr>
              <a:defRPr sz="1800"/>
            </a:pPr>
            <a:r>
              <a:rPr lang="en-US" dirty="0"/>
              <a:t>python scripts/run_stage5_drs_gate.py</a:t>
            </a:r>
          </a:p>
          <a:p>
            <a:pPr>
              <a:defRPr sz="1800"/>
            </a:pPr>
            <a:r>
              <a:rPr lang="en-US" dirty="0"/>
              <a:t>python scripts/workflow_cli.py arch-compare --project-to-compare &lt;</a:t>
            </a:r>
            <a:r>
              <a:rPr lang="en-US" dirty="0" err="1"/>
              <a:t>project_name</a:t>
            </a:r>
            <a:r>
              <a:rPr lang="en-US" dirty="0"/>
              <a:t>&gt;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6193AA-A4CD-AEFB-5737-203A82257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steps Execution Shortlist</a:t>
            </a:r>
          </a:p>
        </p:txBody>
      </p:sp>
    </p:spTree>
    <p:extLst>
      <p:ext uri="{BB962C8B-B14F-4D97-AF65-F5344CB8AC3E}">
        <p14:creationId xmlns:p14="http://schemas.microsoft.com/office/powerpoint/2010/main" val="1942426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CAF53-840F-A84B-73A8-CF15444A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AI Workflow GUI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C29940-624F-B6FF-5357-514D6C74E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558" y="883058"/>
            <a:ext cx="10291971" cy="597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364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EF3D03A-A9C6-23ED-D421-D8DBD91504B1}"/>
              </a:ext>
            </a:extLst>
          </p:cNvPr>
          <p:cNvGrpSpPr/>
          <p:nvPr/>
        </p:nvGrpSpPr>
        <p:grpSpPr>
          <a:xfrm>
            <a:off x="2771951" y="4347316"/>
            <a:ext cx="6420472" cy="952500"/>
            <a:chOff x="2414184" y="4286537"/>
            <a:chExt cx="6420472" cy="9525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9E9B98-996A-C191-F84C-7450EBE0923D}"/>
                </a:ext>
              </a:extLst>
            </p:cNvPr>
            <p:cNvSpPr txBox="1"/>
            <p:nvPr/>
          </p:nvSpPr>
          <p:spPr>
            <a:xfrm>
              <a:off x="3366684" y="4470400"/>
              <a:ext cx="54679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Find out more at </a:t>
              </a:r>
              <a:r>
                <a:rPr lang="en-US" sz="3200" dirty="0">
                  <a:solidFill>
                    <a:schemeClr val="accent3"/>
                  </a:solidFill>
                  <a:hlinkClick r:id="rId2"/>
                </a:rPr>
                <a:t>www.st.com</a:t>
              </a:r>
              <a:endParaRPr lang="en-US" sz="3200" dirty="0">
                <a:solidFill>
                  <a:schemeClr val="accent3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88344D3-877E-1588-F71C-5C1F9E8B0C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4184" y="4286537"/>
              <a:ext cx="952500" cy="952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5237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BF0139B-0BEB-449C-B1F7-80D4F54F3FC1}"/>
              </a:ext>
            </a:extLst>
          </p:cNvPr>
          <p:cNvGrpSpPr/>
          <p:nvPr/>
        </p:nvGrpSpPr>
        <p:grpSpPr>
          <a:xfrm>
            <a:off x="4688541" y="0"/>
            <a:ext cx="7503459" cy="6858000"/>
            <a:chOff x="4688541" y="0"/>
            <a:chExt cx="7503459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975067-3004-4E25-8B69-CACB0B19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8541" y="0"/>
              <a:ext cx="7503459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8AF24E-0C24-4EB7-8B46-271260356B65}"/>
                </a:ext>
              </a:extLst>
            </p:cNvPr>
            <p:cNvSpPr/>
            <p:nvPr/>
          </p:nvSpPr>
          <p:spPr>
            <a:xfrm>
              <a:off x="11640457" y="0"/>
              <a:ext cx="551543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B759B23-2AC6-4702-845A-24B397B67FAF}"/>
              </a:ext>
            </a:extLst>
          </p:cNvPr>
          <p:cNvSpPr txBox="1"/>
          <p:nvPr/>
        </p:nvSpPr>
        <p:spPr>
          <a:xfrm>
            <a:off x="188686" y="2513364"/>
            <a:ext cx="4325257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dirty="0"/>
              <a:t>For further support in creating a PowerPoint presentation, including graphic assets, formatting tools and additional information on the ST brand</a:t>
            </a:r>
          </a:p>
          <a:p>
            <a:pPr algn="ctr">
              <a:spcBef>
                <a:spcPts val="600"/>
              </a:spcBef>
            </a:pPr>
            <a:r>
              <a:rPr lang="en-US" b="1" dirty="0"/>
              <a:t>you can visit the ST Brand Portal</a:t>
            </a:r>
            <a:br>
              <a:rPr lang="en-US" dirty="0"/>
            </a:br>
            <a:r>
              <a:rPr lang="en-US" dirty="0">
                <a:hlinkClick r:id="rId4"/>
              </a:rPr>
              <a:t>https://brandportal.st.com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923148"/>
      </p:ext>
    </p:extLst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16</TotalTime>
  <Words>847</Words>
  <Application>Microsoft Office PowerPoint</Application>
  <PresentationFormat>Widescreen</PresentationFormat>
  <Paragraphs>116</Paragraphs>
  <Slides>12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ST PowerPoint Template 16x9</vt:lpstr>
      <vt:lpstr>STBIO_AI Workflow Architecture</vt:lpstr>
      <vt:lpstr>Agenda</vt:lpstr>
      <vt:lpstr>Main Steps (Stage 0 to Stage 6)</vt:lpstr>
      <vt:lpstr>Main Steps (Stage 0 to Stage 6)</vt:lpstr>
      <vt:lpstr>Compact Workflow Diagram</vt:lpstr>
      <vt:lpstr>Executive Architecture View</vt:lpstr>
      <vt:lpstr>Workflow GUI Description</vt:lpstr>
      <vt:lpstr>workflow_cli.py Command Map</vt:lpstr>
      <vt:lpstr>Python steps Execution Shortlist</vt:lpstr>
      <vt:lpstr>Requirements AI Workflow GUI</vt:lpstr>
      <vt:lpstr>PowerPoint Presentation</vt:lpstr>
      <vt:lpstr>PowerPoint Presentation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Lucio IANNUZZI</dc:creator>
  <cp:keywords/>
  <cp:lastModifiedBy>Alessandro Lucio IANNUZZI</cp:lastModifiedBy>
  <cp:revision>9</cp:revision>
  <dcterms:created xsi:type="dcterms:W3CDTF">2026-08-18T09:14:56Z</dcterms:created>
  <dcterms:modified xsi:type="dcterms:W3CDTF">2026-08-18T14:49:29Z</dcterms:modified>
</cp:coreProperties>
</file>