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2" r:id="rId2"/>
    <p:sldId id="290" r:id="rId3"/>
    <p:sldId id="289" r:id="rId4"/>
    <p:sldId id="291" r:id="rId5"/>
    <p:sldId id="292" r:id="rId6"/>
    <p:sldId id="265" r:id="rId7"/>
    <p:sldId id="293" r:id="rId8"/>
    <p:sldId id="294" r:id="rId9"/>
    <p:sldId id="295" r:id="rId10"/>
    <p:sldId id="296" r:id="rId11"/>
    <p:sldId id="297" r:id="rId12"/>
    <p:sldId id="298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89"/>
            <p14:sldId id="291"/>
            <p14:sldId id="292"/>
            <p14:sldId id="265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>
        <p:scale>
          <a:sx n="66" d="100"/>
          <a:sy n="66" d="100"/>
        </p:scale>
        <p:origin x="1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on multiple lines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077764"/>
          </a:xfrm>
        </p:spPr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EE23721-DB44-4FE9-3CDF-ADA761E876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69568E-652B-AE68-64CF-6069582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STBIO Workflow Main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Stage-gated requirements engineering workflow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Steps: Stage 0 to Stage 5, Optional Stage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300" b="1"/>
                        <a:t>Step</a:t>
                      </a:r>
                    </a:p>
                  </a:txBody>
                  <a:tcP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Primary activity</a:t>
                      </a:r>
                    </a:p>
                  </a:txBody>
                  <a:tcPr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Decision point</a:t>
                      </a:r>
                    </a:p>
                  </a:txBody>
                  <a:tcPr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Ontology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Gate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Source requirements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Gate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Formalization and mapping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Gate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Architecture Map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Reviewer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Micro-architecture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Stage 2A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System Requirements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Stage 3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Architecture Requirements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Stage 4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Detailed Requirements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Stage 5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/>
                        <a:t>6 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Cross-project architecture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Standalone post-Stage 5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Stage-Gated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2120" y="1198305"/>
            <a:ext cx="1005839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Ontology</a:t>
            </a:r>
          </a:p>
        </p:txBody>
      </p:sp>
      <p:sp>
        <p:nvSpPr>
          <p:cNvPr id="4" name="Diamond 3"/>
          <p:cNvSpPr/>
          <p:nvPr/>
        </p:nvSpPr>
        <p:spPr>
          <a:xfrm>
            <a:off x="1653535" y="1271457"/>
            <a:ext cx="1005841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>
                <a:solidFill>
                  <a:schemeClr val="tx1"/>
                </a:solidFill>
              </a:rPr>
              <a:t>Gate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5" name="Connector 4"/>
          <p:cNvCxnSpPr>
            <a:cxnSpLocks/>
            <a:stCxn id="3" idx="3"/>
            <a:endCxn id="4" idx="1"/>
          </p:cNvCxnSpPr>
          <p:nvPr/>
        </p:nvCxnSpPr>
        <p:spPr>
          <a:xfrm>
            <a:off x="1457959" y="1609785"/>
            <a:ext cx="195576" cy="4572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29557" y="1204842"/>
            <a:ext cx="1407163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 dirty="0">
                <a:solidFill>
                  <a:schemeClr val="tx1"/>
                </a:solidFill>
              </a:rPr>
              <a:t>S1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Requirements</a:t>
            </a:r>
          </a:p>
        </p:txBody>
      </p:sp>
      <p:cxnSp>
        <p:nvCxnSpPr>
          <p:cNvPr id="7" name="Connector 6"/>
          <p:cNvCxnSpPr>
            <a:cxnSpLocks/>
            <a:stCxn id="4" idx="3"/>
            <a:endCxn id="6" idx="1"/>
          </p:cNvCxnSpPr>
          <p:nvPr/>
        </p:nvCxnSpPr>
        <p:spPr>
          <a:xfrm>
            <a:off x="2659376" y="1614357"/>
            <a:ext cx="170181" cy="1965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stCxn id="6" idx="3"/>
            <a:endCxn id="81" idx="1"/>
          </p:cNvCxnSpPr>
          <p:nvPr/>
        </p:nvCxnSpPr>
        <p:spPr>
          <a:xfrm>
            <a:off x="4236720" y="1616322"/>
            <a:ext cx="182876" cy="1505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47079" y="1205925"/>
            <a:ext cx="1005841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S2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Specs</a:t>
            </a:r>
          </a:p>
        </p:txBody>
      </p:sp>
      <p:cxnSp>
        <p:nvCxnSpPr>
          <p:cNvPr id="11" name="Connector 10"/>
          <p:cNvCxnSpPr>
            <a:cxnSpLocks/>
            <a:stCxn id="81" idx="3"/>
            <a:endCxn id="10" idx="1"/>
          </p:cNvCxnSpPr>
          <p:nvPr/>
        </p:nvCxnSpPr>
        <p:spPr>
          <a:xfrm flipV="1">
            <a:off x="5425437" y="1617405"/>
            <a:ext cx="421642" cy="422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10" idx="3"/>
            <a:endCxn id="87" idx="1"/>
          </p:cNvCxnSpPr>
          <p:nvPr/>
        </p:nvCxnSpPr>
        <p:spPr>
          <a:xfrm>
            <a:off x="6852920" y="1617405"/>
            <a:ext cx="195574" cy="2987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32143" y="1212432"/>
            <a:ext cx="1300481" cy="822960"/>
          </a:xfrm>
          <a:prstGeom prst="roundRect">
            <a:avLst/>
          </a:prstGeom>
          <a:solidFill>
            <a:srgbClr val="FFF3CD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Architecture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Map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120" y="2684054"/>
            <a:ext cx="1259840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S2A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Micro-Arch</a:t>
            </a:r>
          </a:p>
        </p:txBody>
      </p:sp>
      <p:sp>
        <p:nvSpPr>
          <p:cNvPr id="17" name="Diamond 16"/>
          <p:cNvSpPr/>
          <p:nvPr/>
        </p:nvSpPr>
        <p:spPr>
          <a:xfrm>
            <a:off x="1965958" y="2751903"/>
            <a:ext cx="863599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>
                <a:solidFill>
                  <a:schemeClr val="tx1"/>
                </a:solidFill>
              </a:rPr>
              <a:t>Gate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2A</a:t>
            </a:r>
          </a:p>
        </p:txBody>
      </p:sp>
      <p:cxnSp>
        <p:nvCxnSpPr>
          <p:cNvPr id="18" name="Connector 17"/>
          <p:cNvCxnSpPr>
            <a:cxnSpLocks/>
            <a:stCxn id="15" idx="3"/>
            <a:endCxn id="17" idx="1"/>
          </p:cNvCxnSpPr>
          <p:nvPr/>
        </p:nvCxnSpPr>
        <p:spPr>
          <a:xfrm flipV="1">
            <a:off x="1711960" y="3094803"/>
            <a:ext cx="253998" cy="731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097527" y="2678751"/>
            <a:ext cx="685800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S3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SRS</a:t>
            </a:r>
          </a:p>
        </p:txBody>
      </p:sp>
      <p:cxnSp>
        <p:nvCxnSpPr>
          <p:cNvPr id="20" name="Connector 19"/>
          <p:cNvCxnSpPr>
            <a:cxnSpLocks/>
            <a:stCxn id="17" idx="3"/>
            <a:endCxn id="19" idx="1"/>
          </p:cNvCxnSpPr>
          <p:nvPr/>
        </p:nvCxnSpPr>
        <p:spPr>
          <a:xfrm flipV="1">
            <a:off x="2829557" y="3090231"/>
            <a:ext cx="267970" cy="4572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4304026" y="2747331"/>
            <a:ext cx="834393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 dirty="0">
                <a:solidFill>
                  <a:schemeClr val="tx1"/>
                </a:solidFill>
              </a:rPr>
              <a:t>Gate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2" name="Connector 21"/>
          <p:cNvCxnSpPr>
            <a:cxnSpLocks/>
            <a:stCxn id="19" idx="3"/>
            <a:endCxn id="21" idx="1"/>
          </p:cNvCxnSpPr>
          <p:nvPr/>
        </p:nvCxnSpPr>
        <p:spPr>
          <a:xfrm>
            <a:off x="3783327" y="3090231"/>
            <a:ext cx="520699" cy="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92419" y="2678751"/>
            <a:ext cx="834393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S4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ARS</a:t>
            </a:r>
          </a:p>
        </p:txBody>
      </p:sp>
      <p:sp>
        <p:nvSpPr>
          <p:cNvPr id="25" name="Diamond 24"/>
          <p:cNvSpPr/>
          <p:nvPr/>
        </p:nvSpPr>
        <p:spPr>
          <a:xfrm>
            <a:off x="6536057" y="2749864"/>
            <a:ext cx="847086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>
                <a:solidFill>
                  <a:schemeClr val="tx1"/>
                </a:solidFill>
              </a:rPr>
              <a:t>Gate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6" name="Connector 25"/>
          <p:cNvCxnSpPr>
            <a:cxnSpLocks/>
            <a:stCxn id="24" idx="3"/>
            <a:endCxn id="25" idx="1"/>
          </p:cNvCxnSpPr>
          <p:nvPr/>
        </p:nvCxnSpPr>
        <p:spPr>
          <a:xfrm>
            <a:off x="6226812" y="3090231"/>
            <a:ext cx="309245" cy="2533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32397" y="2678751"/>
            <a:ext cx="960120" cy="82296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S5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DRS</a:t>
            </a:r>
          </a:p>
        </p:txBody>
      </p:sp>
      <p:cxnSp>
        <p:nvCxnSpPr>
          <p:cNvPr id="28" name="Connector 27"/>
          <p:cNvCxnSpPr>
            <a:cxnSpLocks/>
            <a:stCxn id="25" idx="3"/>
            <a:endCxn id="27" idx="1"/>
          </p:cNvCxnSpPr>
          <p:nvPr/>
        </p:nvCxnSpPr>
        <p:spPr>
          <a:xfrm flipV="1">
            <a:off x="7383143" y="3090231"/>
            <a:ext cx="349254" cy="2533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27" idx="3"/>
            <a:endCxn id="102" idx="1"/>
          </p:cNvCxnSpPr>
          <p:nvPr/>
        </p:nvCxnSpPr>
        <p:spPr>
          <a:xfrm flipV="1">
            <a:off x="8692517" y="3086608"/>
            <a:ext cx="158754" cy="3623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64117" y="2678751"/>
            <a:ext cx="1188716" cy="822960"/>
          </a:xfrm>
          <a:prstGeom prst="roundRect">
            <a:avLst/>
          </a:prstGeom>
          <a:solidFill>
            <a:srgbClr val="E8DEF8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S6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Optional Compare</a:t>
            </a:r>
          </a:p>
        </p:txBody>
      </p:sp>
      <p:cxnSp>
        <p:nvCxnSpPr>
          <p:cNvPr id="32" name="Connector 31"/>
          <p:cNvCxnSpPr>
            <a:cxnSpLocks/>
            <a:stCxn id="102" idx="3"/>
            <a:endCxn id="31" idx="1"/>
          </p:cNvCxnSpPr>
          <p:nvPr/>
        </p:nvCxnSpPr>
        <p:spPr>
          <a:xfrm>
            <a:off x="9698357" y="3086608"/>
            <a:ext cx="365760" cy="3623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462" y="4288283"/>
            <a:ext cx="1173269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2000" dirty="0"/>
              <a:t>Each Stage 0-5 generation step is followed by its gate before the next stage consumes </a:t>
            </a:r>
            <a:r>
              <a:rPr lang="en-US" sz="2000" dirty="0"/>
              <a:t>i</a:t>
            </a:r>
            <a:r>
              <a:rPr sz="2000" dirty="0"/>
              <a:t>ts artifacts. 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2000" dirty="0"/>
              <a:t>Architecture Map Review is the approval step before Stage 2A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2000" dirty="0"/>
              <a:t>Stage 6 remains optional after Gate 5.</a:t>
            </a:r>
          </a:p>
        </p:txBody>
      </p:sp>
      <p:cxnSp>
        <p:nvCxnSpPr>
          <p:cNvPr id="39" name="Connector 12">
            <a:extLst>
              <a:ext uri="{FF2B5EF4-FFF2-40B4-BE49-F238E27FC236}">
                <a16:creationId xmlns:a16="http://schemas.microsoft.com/office/drawing/2014/main" id="{47D246C7-9978-600E-DADA-164CEA3D7E1A}"/>
              </a:ext>
            </a:extLst>
          </p:cNvPr>
          <p:cNvCxnSpPr>
            <a:cxnSpLocks/>
            <a:stCxn id="87" idx="3"/>
            <a:endCxn id="14" idx="1"/>
          </p:cNvCxnSpPr>
          <p:nvPr/>
        </p:nvCxnSpPr>
        <p:spPr>
          <a:xfrm>
            <a:off x="8054335" y="1620392"/>
            <a:ext cx="177808" cy="352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1">
            <a:extLst>
              <a:ext uri="{FF2B5EF4-FFF2-40B4-BE49-F238E27FC236}">
                <a16:creationId xmlns:a16="http://schemas.microsoft.com/office/drawing/2014/main" id="{0134FD6F-605E-9260-861D-510B9B4AFF20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5138419" y="3090231"/>
            <a:ext cx="254000" cy="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6CECCFE1-85DA-0C78-2F0F-79A391BA5A12}"/>
              </a:ext>
            </a:extLst>
          </p:cNvPr>
          <p:cNvSpPr/>
          <p:nvPr/>
        </p:nvSpPr>
        <p:spPr>
          <a:xfrm>
            <a:off x="4419596" y="1274927"/>
            <a:ext cx="1005841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 dirty="0">
                <a:solidFill>
                  <a:schemeClr val="tx1"/>
                </a:solidFill>
              </a:rPr>
              <a:t>Gate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Diamond 86">
            <a:extLst>
              <a:ext uri="{FF2B5EF4-FFF2-40B4-BE49-F238E27FC236}">
                <a16:creationId xmlns:a16="http://schemas.microsoft.com/office/drawing/2014/main" id="{78C1F941-2E9F-5828-2F57-D2053A5C1B67}"/>
              </a:ext>
            </a:extLst>
          </p:cNvPr>
          <p:cNvSpPr/>
          <p:nvPr/>
        </p:nvSpPr>
        <p:spPr>
          <a:xfrm>
            <a:off x="7048494" y="1277492"/>
            <a:ext cx="1005841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 dirty="0">
                <a:solidFill>
                  <a:schemeClr val="tx1"/>
                </a:solidFill>
              </a:rPr>
              <a:t>Gate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C44F84FB-D7DB-1861-29DD-E861F41646C2}"/>
              </a:ext>
            </a:extLst>
          </p:cNvPr>
          <p:cNvSpPr/>
          <p:nvPr/>
        </p:nvSpPr>
        <p:spPr>
          <a:xfrm>
            <a:off x="8851271" y="2743708"/>
            <a:ext cx="847086" cy="685800"/>
          </a:xfrm>
          <a:prstGeom prst="diamond">
            <a:avLst/>
          </a:prstGeom>
          <a:solidFill>
            <a:srgbClr val="FFF3CD"/>
          </a:solidFill>
          <a:ln>
            <a:solidFill>
              <a:srgbClr val="8A5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rPr dirty="0">
                <a:solidFill>
                  <a:schemeClr val="tx1"/>
                </a:solidFill>
              </a:rPr>
              <a:t>Gate</a:t>
            </a:r>
            <a:br>
              <a:rPr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5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F398A9A-9EDF-9977-4BC9-7C11E2B7488F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H="1">
            <a:off x="452120" y="1623912"/>
            <a:ext cx="9080504" cy="1471622"/>
          </a:xfrm>
          <a:prstGeom prst="bentConnector5">
            <a:avLst>
              <a:gd name="adj1" fmla="val -2517"/>
              <a:gd name="adj2" fmla="val 50000"/>
              <a:gd name="adj3" fmla="val 102517"/>
            </a:avLst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Map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Review the editable requirement-to-block mapping preview after Stage 2.</a:t>
            </a:r>
          </a:p>
          <a:p>
            <a:pPr>
              <a:spcAft>
                <a:spcPts val="1000"/>
              </a:spcAft>
              <a:defRPr sz="1900"/>
            </a:pPr>
            <a:r>
              <a:t>Approve or reassign every mapping with current evidence hashes and reviewer identity.</a:t>
            </a:r>
          </a:p>
          <a:p>
            <a:pPr>
              <a:spcAft>
                <a:spcPts val="1000"/>
              </a:spcAft>
              <a:defRPr sz="1900"/>
            </a:pPr>
            <a:r>
              <a:t>Stage 2A remains blocked until all decisions are accepted and approval evidence matches.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Traceability And Coverage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103120" cy="914400"/>
          </a:xfrm>
          <a:prstGeom prst="roundRect">
            <a:avLst/>
          </a:prstGeom>
          <a:solidFill>
            <a:srgbClr val="EAF0F6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Source Specification</a:t>
            </a:r>
            <a:br/>
            <a:r>
              <a:t>Stage 1 source catalog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286000"/>
            <a:ext cx="2103120" cy="914400"/>
          </a:xfrm>
          <a:prstGeom prst="roundRect">
            <a:avLst/>
          </a:prstGeom>
          <a:solidFill>
            <a:srgbClr val="D9EDF7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SRS</a:t>
            </a:r>
            <a:br/>
            <a:r>
              <a:t>Source-to-SRS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234440"/>
            <a:ext cx="2103120" cy="914400"/>
          </a:xfrm>
          <a:prstGeom prst="roundRect">
            <a:avLst/>
          </a:prstGeom>
          <a:solidFill>
            <a:srgbClr val="F1F3F5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ARS</a:t>
            </a:r>
            <a:br/>
            <a:r>
              <a:t>Scoped coverage or N/A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429000"/>
            <a:ext cx="2103120" cy="914400"/>
          </a:xfrm>
          <a:prstGeom prst="roundRect">
            <a:avLst/>
          </a:prstGeom>
          <a:solidFill>
            <a:srgbClr val="D9EAD3"/>
          </a:solidFill>
          <a:ln>
            <a:solidFill>
              <a:srgbClr val="4A6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DRS</a:t>
            </a:r>
            <a:br/>
            <a:r>
              <a:t>Scoped coverage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743200"/>
            <a:ext cx="822960" cy="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25146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direct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577840" y="1691640"/>
            <a:ext cx="1097280" cy="105156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06440" y="19888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direct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2743200"/>
            <a:ext cx="1097280" cy="1143000"/>
          </a:xfrm>
          <a:prstGeom prst="line">
            <a:avLst/>
          </a:prstGeom>
          <a:ln w="19050">
            <a:solidFill>
              <a:srgbClr val="4A60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06440" y="30861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Stage 5 writes the hierarchy coverage report. The System Traceability GUI tab reads it, shows direct-link percentages on arrows, and excludes context-only rows from coverage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Core Workflow Rules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Stage 1 is the only direct reader of the source specification.</a:t>
            </a:r>
          </a:p>
          <a:p>
            <a:pPr>
              <a:spcAft>
                <a:spcPts val="1000"/>
              </a:spcAft>
              <a:defRPr sz="1900"/>
            </a:pPr>
            <a:r>
              <a:t>Stage 2 and later consume artifacts only and enforce the independence guard.</a:t>
            </a:r>
          </a:p>
          <a:p>
            <a:pPr>
              <a:spcAft>
                <a:spcPts val="1000"/>
              </a:spcAft>
              <a:defRPr sz="1900"/>
            </a:pPr>
            <a:r>
              <a:t>Traceability coverage joins documents through source_req_id against the Stage 1 source catalog.</a:t>
            </a:r>
          </a:p>
          <a:p>
            <a:pPr>
              <a:spcAft>
                <a:spcPts val="1000"/>
              </a:spcAft>
              <a:defRPr sz="1900"/>
            </a:pPr>
            <a:r>
              <a:t>A scoped document with no in-scope requirements is reported as not applicable, not as zero coverage.</a:t>
            </a:r>
          </a:p>
          <a:p>
            <a:pPr>
              <a:spcAft>
                <a:spcPts val="1000"/>
              </a:spcAft>
              <a:defRPr sz="1900"/>
            </a:pPr>
            <a:r>
              <a:t>Optional Stage 6 compares current generated architecture artifacts and does not block Stage 0-5 gates.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Operator 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workflow_cli.py to run one stage or an ascending contiguous stage range.</a:t>
            </a:r>
          </a:p>
          <a:p>
            <a:pPr>
              <a:spcAft>
                <a:spcPts val="1000"/>
              </a:spcAft>
              <a:defRPr sz="1900"/>
            </a:pPr>
            <a:r>
              <a:t>Use Architecture Map Review to review and approve mapping evidence before Stage 2A.</a:t>
            </a:r>
          </a:p>
          <a:p>
            <a:pPr>
              <a:spcAft>
                <a:spcPts val="1000"/>
              </a:spcAft>
              <a:defRPr sz="1900"/>
            </a:pPr>
            <a:r>
              <a:t>Use the System Traceability GUI tab to inspect the current report and direct-link coverage values.</a:t>
            </a:r>
          </a:p>
          <a:p>
            <a:pPr>
              <a:spcAft>
                <a:spcPts val="1000"/>
              </a:spcAft>
              <a:defRPr sz="1900"/>
            </a:pPr>
            <a:r>
              <a:t>Use run --stage 6 --project-to-compare after Stage 5 when sibling-project comparison is needed.</a:t>
            </a:r>
          </a:p>
          <a:p>
            <a:pPr>
              <a:spcAft>
                <a:spcPts val="1000"/>
              </a:spcAft>
              <a:defRPr sz="1900"/>
            </a:pPr>
            <a:r>
              <a:t>Use validate --all to confirm the available stage gates after an approved regeneration.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2732</TotalTime>
  <Words>500</Words>
  <Application>Microsoft Office PowerPoint</Application>
  <PresentationFormat>Widescreen</PresentationFormat>
  <Paragraphs>95</Paragraphs>
  <Slides>13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ST PowerPoint Template 16x9</vt:lpstr>
      <vt:lpstr>Presentation title on multiple lines</vt:lpstr>
      <vt:lpstr>Agenda</vt:lpstr>
      <vt:lpstr>PowerPoint Presentation</vt:lpstr>
      <vt:lpstr>Section title</vt:lpstr>
      <vt:lpstr>PowerPoint Presentation</vt:lpstr>
      <vt:lpstr>PowerPoint Presentation</vt:lpstr>
      <vt:lpstr>STBIO Workflow Main Steps</vt:lpstr>
      <vt:lpstr>Main Steps: Stage 0 to Stage 5, Optional Stage 6</vt:lpstr>
      <vt:lpstr>Stage-Gated Workflow</vt:lpstr>
      <vt:lpstr>Architecture Map Review</vt:lpstr>
      <vt:lpstr>System Traceability And Coverage</vt:lpstr>
      <vt:lpstr>Core Workflow Rules</vt:lpstr>
      <vt:lpstr>Operator Actions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Lucio IANNUZZI</dc:creator>
  <cp:keywords/>
  <cp:lastModifiedBy>Alessandro Lucio IANNUZZI</cp:lastModifiedBy>
  <cp:revision>3</cp:revision>
  <dcterms:created xsi:type="dcterms:W3CDTF">2026-08-18T09:14:56Z</dcterms:created>
  <dcterms:modified xsi:type="dcterms:W3CDTF">2026-09-04T08:16:16Z</dcterms:modified>
</cp:coreProperties>
</file>