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>
        <p:scale>
          <a:sx n="100" d="100"/>
          <a:sy n="100" d="100"/>
        </p:scale>
        <p:origin x="1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0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143000"/>
            <a:ext cx="10607040" cy="12344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From PDF Specification
to Canonical Database and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987552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800" b="0">
                <a:solidFill>
                  <a:srgbClr val="CDE2EC"/>
                </a:solidFill>
                <a:latin typeface="Aptos"/>
              </a:rPr>
              <a:t>Deterministic, local-only requirements and retrieval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069080"/>
            <a:ext cx="1417320" cy="658368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7824" y="4178808"/>
            <a:ext cx="1307592" cy="49377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069080"/>
            <a:ext cx="1600200" cy="658368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98064" y="4178808"/>
            <a:ext cx="1490472" cy="49377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4069080"/>
            <a:ext cx="1691640" cy="658368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46903" y="4178808"/>
            <a:ext cx="1581912" cy="49377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AUTHORITY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4069080"/>
            <a:ext cx="2148840" cy="658368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87183" y="4178808"/>
            <a:ext cx="2039112" cy="49377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GENERATED SPECS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67712" y="4398264"/>
            <a:ext cx="402336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4398264"/>
            <a:ext cx="429768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29400" y="4398264"/>
            <a:ext cx="429768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500" b="0">
                <a:solidFill>
                  <a:srgbClr val="CDE2EC"/>
                </a:solidFill>
                <a:latin typeface="Aptos"/>
              </a:rPr>
              <a:t>Stage 0 → Stage 1 → Stage 2 → S2H → SRS / ARS / DRS / IPOS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The source is transformed through evidence, approval, and generation boundaries.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7784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Source PDF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47672" y="3063240"/>
            <a:ext cx="21945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67128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21992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S0
Bootstrap + ontology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3063240"/>
            <a:ext cx="21945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31336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S1
OCR + requirements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76088" y="3063240"/>
            <a:ext cx="21945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95544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4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0408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S2 / S2A
Architecture mapping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0296" y="3063240"/>
            <a:ext cx="21945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59752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B04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14616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S2H
Approved snapshot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04504" y="3063240"/>
            <a:ext cx="21945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78824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SRS / ARS / DRS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68712" y="3063240"/>
            <a:ext cx="21945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88168" y="2606040"/>
            <a:ext cx="1417320" cy="91440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43032" y="2715768"/>
            <a:ext cx="1307592" cy="7498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IPOS per block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4617719"/>
            <a:ext cx="4297680" cy="1124711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52728" y="4709159"/>
            <a:ext cx="407822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Invariant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5093208"/>
            <a:ext cx="4078224" cy="30175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222B34"/>
                </a:solidFill>
                <a:latin typeface="Aptos"/>
              </a:rPr>
              <a:t>Stage 2+ consumes approved artifacts and snapshots. It does not reread the PDF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617720"/>
            <a:ext cx="4297680" cy="112471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8" y="4709159"/>
            <a:ext cx="407822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38487"/>
                </a:solidFill>
                <a:latin typeface="Aptos"/>
              </a:rPr>
              <a:t>Reproducibility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39128" y="5093208"/>
            <a:ext cx="4078224" cy="30175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222B34"/>
                </a:solidFill>
                <a:latin typeface="Aptos"/>
              </a:rPr>
              <a:t>Same approved snapshot + same configuration produces the same downstream result.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Stage 0: source bootstrap and ontology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Stage 0 establishes source identity and architectural evidence before requirements extraction.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337560" cy="33832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600200"/>
            <a:ext cx="31181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F6F9F"/>
                </a:solidFill>
                <a:latin typeface="Aptos"/>
              </a:rPr>
              <a:t>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84248"/>
            <a:ext cx="3118104" cy="28163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• Resolve configured PDF
• Verify readability
• Calculate source fingerprint
• Register project, source, revision, and ingestion batch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509010" cy="338328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600200"/>
            <a:ext cx="31181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38487"/>
                </a:solidFill>
                <a:latin typeface="Aptos"/>
              </a:rPr>
              <a:t>Ontology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84248"/>
            <a:ext cx="3227832" cy="127419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 dirty="0">
                <a:solidFill>
                  <a:srgbClr val="222B34"/>
                </a:solidFill>
                <a:latin typeface="Aptos"/>
              </a:rPr>
              <a:t>• Entities and blocks
• Roles and functions
• Properties and relations
• Interfaces and protocols
• Analog/digital indicators
• Tables, figures, modes, and power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508760"/>
            <a:ext cx="3337560" cy="338328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600200"/>
            <a:ext cx="31181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Gate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1984248"/>
            <a:ext cx="3118104" cy="281635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 dirty="0">
                <a:solidFill>
                  <a:srgbClr val="222B34"/>
                </a:solidFill>
                <a:latin typeface="Aptos"/>
              </a:rPr>
              <a:t>Validates source presence, fingerprint, provenance, ontology artifacts, and blocking defects.
FAIL stops the workflow. PASS allows Stage 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1078992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00" b="0">
                <a:solidFill>
                  <a:srgbClr val="5B6974"/>
                </a:solidFill>
                <a:latin typeface="Aptos"/>
              </a:rPr>
              <a:t>Files: s0_source_bootstrap.py · generate_stage0_ontology_outputs.py · validate_stage0_gate.py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Stage 1: per-page extraction and requirement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The PDF is read once at the source-ingestion boundary and converted into page-addressable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417320" cy="86868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1938528"/>
            <a:ext cx="1307592" cy="704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PDF
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828800"/>
            <a:ext cx="1600200" cy="86868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9464" y="1938528"/>
            <a:ext cx="1490472" cy="704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pypdf
PdfReader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828800"/>
            <a:ext cx="1691640" cy="86868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72583" y="1938528"/>
            <a:ext cx="1581912" cy="704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Page TXT
_p001.txt...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828800"/>
            <a:ext cx="1783080" cy="86868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67144" y="1938528"/>
            <a:ext cx="1673352" cy="704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index.csv
page provenance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828800"/>
            <a:ext cx="1828800" cy="86868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53144" y="1938528"/>
            <a:ext cx="1719072" cy="704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Requirement
summary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57400" y="2267712"/>
            <a:ext cx="384048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06240" y="2267712"/>
            <a:ext cx="384048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00800" y="2267712"/>
            <a:ext cx="384048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6800" y="2267712"/>
            <a:ext cx="384048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3794760"/>
            <a:ext cx="10149840" cy="16459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B34"/>
                </a:solidFill>
                <a:latin typeface="Aptos"/>
              </a:defRPr>
            </a:pPr>
            <a:r>
              <a:t>Configured ID and Requirement-marker recognition</a:t>
            </a:r>
          </a:p>
          <a:p>
            <a:pPr>
              <a:spcAft>
                <a:spcPts val="800"/>
              </a:spcAft>
              <a:defRPr sz="1500">
                <a:solidFill>
                  <a:srgbClr val="222B34"/>
                </a:solidFill>
                <a:latin typeface="Aptos"/>
              </a:defRPr>
            </a:pPr>
            <a:r>
              <a:t>Normative language, limits, ranges, conditions, and table-row rules</a:t>
            </a:r>
          </a:p>
          <a:p>
            <a:pPr>
              <a:spcAft>
                <a:spcPts val="800"/>
              </a:spcAft>
              <a:defRPr sz="1500">
                <a:solidFill>
                  <a:srgbClr val="222B34"/>
                </a:solidFill>
                <a:latin typeface="Aptos"/>
              </a:defRPr>
            </a:pPr>
            <a:r>
              <a:t>Continuation reconstruction across lines and pages</a:t>
            </a:r>
          </a:p>
          <a:p>
            <a:pPr>
              <a:spcAft>
                <a:spcPts val="800"/>
              </a:spcAft>
              <a:defRPr sz="1500">
                <a:solidFill>
                  <a:srgbClr val="222B34"/>
                </a:solidFill>
                <a:latin typeface="Aptos"/>
              </a:defRPr>
            </a:pPr>
            <a:r>
              <a:t>Page, line, table, section, and source provenance</a:t>
            </a:r>
          </a:p>
          <a:p>
            <a:pPr>
              <a:spcAft>
                <a:spcPts val="800"/>
              </a:spcAft>
              <a:defRPr sz="1500">
                <a:solidFill>
                  <a:srgbClr val="222B34"/>
                </a:solidFill>
                <a:latin typeface="Aptos"/>
              </a:defRPr>
            </a:pPr>
            <a:r>
              <a:t>Gate 1 blocks duplicate IDs, truncation, and missing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RAG construction: deterministic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The RAG index is local, rebuildable, and separate from workflow authority.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40233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508760"/>
            <a:ext cx="238658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F6F9F"/>
                </a:solidFill>
                <a:latin typeface="Aptos"/>
              </a:rPr>
              <a:t>Chunking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92808"/>
            <a:ext cx="2386584" cy="34564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Sliding-window chunks
Current documented configuration:
• 1200-character chunk size
• 150-character overlap
• Structural table and figure chunks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606040" cy="402336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8728" y="1508760"/>
            <a:ext cx="238658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38487"/>
                </a:solidFill>
                <a:latin typeface="Aptos"/>
              </a:rPr>
              <a:t>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1892808"/>
            <a:ext cx="2386584" cy="34564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Algorithms:
• _tokenize_terms
• _simple_lemma
• _controlled_terms
Adds lemmas, acronyms, phrase mappings, units, and approved synonyms.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606040" cy="402336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508760"/>
            <a:ext cx="238658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SQLite schema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892808"/>
            <a:ext cx="2386584" cy="34564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chunks
chunk_fts
Original text in SQLite FTS5
chunk_terms_fts
Normalized terms in SQLite FTS5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423160" cy="402336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4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90888" y="1508760"/>
            <a:ext cx="22037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408B5B"/>
                </a:solidFill>
                <a:latin typeface="Aptos"/>
              </a:rPr>
              <a:t>Manifest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1892808"/>
            <a:ext cx="2203704" cy="34564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Records source, chunking, vocabulary, normalized-term index, and retrieval configuration.
RAG output is derived and can be rebuilt.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RAG querying: BM25, normalized retrieval, and RRF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Three retrieval paths provide exact matching, recall expansion, and stable rank fusion.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1143000" cy="658368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3" y="2532888"/>
            <a:ext cx="1033271" cy="3200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19304C"/>
                </a:solidFill>
                <a:latin typeface="Aptos"/>
              </a:rPr>
              <a:t>Query</a:t>
            </a:r>
            <a:endParaRPr sz="1200" b="1" dirty="0">
              <a:solidFill>
                <a:srgbClr val="19304C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40280" y="1508760"/>
            <a:ext cx="1874519" cy="8229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95144" y="1618488"/>
            <a:ext cx="1764791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19304C"/>
                </a:solidFill>
                <a:latin typeface="Aptos"/>
              </a:rPr>
              <a:t>Lexical</a:t>
            </a:r>
            <a:r>
              <a:rPr sz="1200" b="1" dirty="0">
                <a:solidFill>
                  <a:srgbClr val="19304C"/>
                </a:solidFill>
                <a:latin typeface="Aptos"/>
              </a:rPr>
              <a:t>
FTS5 + BM25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3246120"/>
            <a:ext cx="1874519" cy="82296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95144" y="3355848"/>
            <a:ext cx="1764791" cy="50475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 dirty="0">
                <a:solidFill>
                  <a:srgbClr val="19304C"/>
                </a:solidFill>
                <a:latin typeface="Aptos"/>
              </a:rPr>
              <a:t>Normalized</a:t>
            </a:r>
            <a:r>
              <a:rPr sz="1200" b="1" dirty="0">
                <a:solidFill>
                  <a:srgbClr val="19304C"/>
                </a:solidFill>
                <a:latin typeface="Aptos"/>
              </a:rPr>
              <a:t>
FTS5 + BM25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35D09C0-42E6-AFC0-57E0-4437B99B8CFC}"/>
              </a:ext>
            </a:extLst>
          </p:cNvPr>
          <p:cNvGrpSpPr/>
          <p:nvPr/>
        </p:nvGrpSpPr>
        <p:grpSpPr>
          <a:xfrm>
            <a:off x="4892039" y="1873507"/>
            <a:ext cx="2708911" cy="1281179"/>
            <a:chOff x="4892039" y="2331720"/>
            <a:chExt cx="2318385" cy="822960"/>
          </a:xfrm>
        </p:grpSpPr>
        <p:sp>
          <p:nvSpPr>
            <p:cNvPr id="11" name="Rounded Rectangle 10"/>
            <p:cNvSpPr/>
            <p:nvPr/>
          </p:nvSpPr>
          <p:spPr>
            <a:xfrm>
              <a:off x="4892039" y="2331720"/>
              <a:ext cx="2318385" cy="822960"/>
            </a:xfrm>
            <a:prstGeom prst="roundRect">
              <a:avLst/>
            </a:prstGeom>
            <a:solidFill>
              <a:srgbClr val="FAF1E0"/>
            </a:solidFill>
            <a:ln w="15240">
              <a:solidFill>
                <a:srgbClr val="D380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42312" y="2386380"/>
              <a:ext cx="2042162" cy="759164"/>
            </a:xfrm>
            <a:prstGeom prst="rect">
              <a:avLst/>
            </a:prstGeom>
            <a:noFill/>
          </p:spPr>
          <p:txBody>
            <a:bodyPr wrap="square" lIns="73152" tIns="36576" rIns="73152" bIns="36576">
              <a:spAutoFit/>
            </a:bodyPr>
            <a:lstStyle/>
            <a:p>
              <a:r>
                <a:rPr lang="en-US" sz="1200" dirty="0"/>
                <a:t>`</a:t>
              </a:r>
              <a:r>
                <a:rPr lang="en-US" sz="1200" b="1" dirty="0"/>
                <a:t>hybrid</a:t>
              </a:r>
              <a:r>
                <a:rPr lang="en-US" sz="1200" dirty="0"/>
                <a:t>` mode:</a:t>
              </a:r>
            </a:p>
            <a:p>
              <a:r>
                <a:rPr lang="en-US" sz="1200" dirty="0"/>
                <a:t>- lexical retrieval;</a:t>
              </a:r>
            </a:p>
            <a:p>
              <a:r>
                <a:rPr lang="en-US" sz="1200" dirty="0"/>
                <a:t>- normalized-term retrieval</a:t>
              </a:r>
            </a:p>
            <a:p>
              <a:pPr algn="ctr"/>
              <a:r>
                <a:rPr lang="en-US" sz="1200" dirty="0">
                  <a:solidFill>
                    <a:srgbClr val="19304C"/>
                  </a:solidFill>
                  <a:latin typeface="Aptos"/>
                </a:rPr>
                <a:t>Combined with:</a:t>
              </a:r>
              <a:br>
                <a:rPr lang="en-US" sz="1200" dirty="0">
                  <a:solidFill>
                    <a:srgbClr val="19304C"/>
                  </a:solidFill>
                  <a:latin typeface="Aptos"/>
                </a:rPr>
              </a:br>
              <a:r>
                <a:rPr sz="1200" b="1" dirty="0">
                  <a:solidFill>
                    <a:srgbClr val="19304C"/>
                  </a:solidFill>
                  <a:latin typeface="Aptos"/>
                </a:rPr>
                <a:t>RRF</a:t>
              </a:r>
              <a:r>
                <a:rPr lang="en-US" sz="1200" b="1" dirty="0">
                  <a:solidFill>
                    <a:srgbClr val="19304C"/>
                  </a:solidFill>
                  <a:latin typeface="Aptos"/>
                </a:rPr>
                <a:t> (Reciprocal Rank Fusion)</a:t>
              </a:r>
              <a:r>
                <a:rPr sz="1200" b="1" dirty="0">
                  <a:solidFill>
                    <a:srgbClr val="19304C"/>
                  </a:solidFill>
                  <a:latin typeface="Aptos"/>
                </a:rPr>
                <a:t> 
k = 60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EDE88E8-C37E-B3BA-A29E-259BB1DBE7EF}"/>
              </a:ext>
            </a:extLst>
          </p:cNvPr>
          <p:cNvGrpSpPr/>
          <p:nvPr/>
        </p:nvGrpSpPr>
        <p:grpSpPr>
          <a:xfrm>
            <a:off x="9650539" y="2102647"/>
            <a:ext cx="1608202" cy="822960"/>
            <a:chOff x="8303894" y="2229341"/>
            <a:chExt cx="1608202" cy="822960"/>
          </a:xfrm>
        </p:grpSpPr>
        <p:sp>
          <p:nvSpPr>
            <p:cNvPr id="13" name="Rounded Rectangle 12"/>
            <p:cNvSpPr/>
            <p:nvPr/>
          </p:nvSpPr>
          <p:spPr>
            <a:xfrm>
              <a:off x="8418194" y="2229341"/>
              <a:ext cx="1335406" cy="822960"/>
            </a:xfrm>
            <a:prstGeom prst="roundRect">
              <a:avLst/>
            </a:prstGeom>
            <a:solidFill>
              <a:srgbClr val="E5F4F2"/>
            </a:solidFill>
            <a:ln w="15240">
              <a:solidFill>
                <a:srgbClr val="2384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03894" y="2402683"/>
              <a:ext cx="1608202" cy="443198"/>
            </a:xfrm>
            <a:prstGeom prst="rect">
              <a:avLst/>
            </a:prstGeom>
            <a:noFill/>
          </p:spPr>
          <p:txBody>
            <a:bodyPr wrap="square" lIns="73152" tIns="36576" rIns="73152" bIns="36576">
              <a:spAutoFit/>
            </a:bodyPr>
            <a:lstStyle/>
            <a:p>
              <a:pPr algn="ctr"/>
              <a:r>
                <a:rPr sz="1200" b="1" dirty="0">
                  <a:solidFill>
                    <a:srgbClr val="19304C"/>
                  </a:solidFill>
                  <a:latin typeface="Aptos"/>
                </a:rPr>
                <a:t>Top-k chunks
+ provenance</a:t>
              </a:r>
            </a:p>
          </p:txBody>
        </p:sp>
      </p:grpSp>
      <p:cxnSp>
        <p:nvCxnSpPr>
          <p:cNvPr id="15" name="Connector 14"/>
          <p:cNvCxnSpPr/>
          <p:nvPr/>
        </p:nvCxnSpPr>
        <p:spPr>
          <a:xfrm flipV="1">
            <a:off x="1737360" y="1920240"/>
            <a:ext cx="411480" cy="82296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37360" y="2743200"/>
            <a:ext cx="411480" cy="91440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endCxn id="11" idx="1"/>
          </p:cNvCxnSpPr>
          <p:nvPr/>
        </p:nvCxnSpPr>
        <p:spPr>
          <a:xfrm>
            <a:off x="4160520" y="1920240"/>
            <a:ext cx="731519" cy="593852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  <a:endCxn id="11" idx="1"/>
          </p:cNvCxnSpPr>
          <p:nvPr/>
        </p:nvCxnSpPr>
        <p:spPr>
          <a:xfrm flipV="1">
            <a:off x="4160520" y="2514092"/>
            <a:ext cx="731519" cy="1143508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  <a:stCxn id="11" idx="3"/>
            <a:endCxn id="13" idx="1"/>
          </p:cNvCxnSpPr>
          <p:nvPr/>
        </p:nvCxnSpPr>
        <p:spPr>
          <a:xfrm>
            <a:off x="7600950" y="2514092"/>
            <a:ext cx="2163889" cy="35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49014" y="3992913"/>
            <a:ext cx="53949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100" b="1" dirty="0">
                <a:solidFill>
                  <a:srgbClr val="19304C"/>
                </a:solidFill>
                <a:latin typeface="Aptos"/>
              </a:rPr>
              <a:t>RRF(d) = Σ 1 / (k + rankᵢ(d))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9316" y="4954676"/>
            <a:ext cx="6637020" cy="1551194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r>
              <a:rPr lang="en-US" sz="1200" dirty="0"/>
              <a:t>RRF combines rankings without directly comparing BM25 scores produced by different channels</a:t>
            </a:r>
          </a:p>
          <a:p>
            <a:endParaRPr lang="en-US" sz="1200" b="0" dirty="0">
              <a:solidFill>
                <a:srgbClr val="5B6974"/>
              </a:solidFill>
              <a:latin typeface="Aptos"/>
            </a:endParaRPr>
          </a:p>
          <a:p>
            <a:r>
              <a:rPr sz="1200" b="1" dirty="0">
                <a:solidFill>
                  <a:srgbClr val="5B6974"/>
                </a:solidFill>
                <a:latin typeface="Aptos"/>
              </a:rPr>
              <a:t>Optional</a:t>
            </a:r>
            <a:r>
              <a:rPr sz="1200" b="0" dirty="0">
                <a:solidFill>
                  <a:srgbClr val="5B6974"/>
                </a:solidFill>
                <a:latin typeface="Aptos"/>
              </a:rPr>
              <a:t> local </a:t>
            </a:r>
            <a:r>
              <a:rPr sz="1200" b="1" dirty="0">
                <a:solidFill>
                  <a:srgbClr val="5B6974"/>
                </a:solidFill>
                <a:latin typeface="Aptos"/>
              </a:rPr>
              <a:t>semantic retrieval </a:t>
            </a:r>
            <a:r>
              <a:rPr sz="1200" b="0" dirty="0">
                <a:solidFill>
                  <a:srgbClr val="5B6974"/>
                </a:solidFill>
                <a:latin typeface="Aptos"/>
              </a:rPr>
              <a:t>may widen or recover candidates</a:t>
            </a:r>
            <a:r>
              <a:rPr lang="en-US" sz="1200" dirty="0">
                <a:solidFill>
                  <a:srgbClr val="5B6974"/>
                </a:solidFill>
                <a:latin typeface="Aptos"/>
              </a:rPr>
              <a:t> ; </a:t>
            </a:r>
          </a:p>
          <a:p>
            <a:r>
              <a:rPr lang="en-US" sz="1200" dirty="0">
                <a:solidFill>
                  <a:srgbClr val="5B6974"/>
                </a:solidFill>
                <a:latin typeface="Aptos"/>
              </a:rPr>
              <a:t>semantic similarity alone is never authoritative.</a:t>
            </a:r>
          </a:p>
          <a:p>
            <a:r>
              <a:rPr lang="en-US" sz="1200" dirty="0">
                <a:solidFill>
                  <a:srgbClr val="5B6974"/>
                </a:solidFill>
                <a:latin typeface="Aptos"/>
              </a:rPr>
              <a:t>   - local embeddings;</a:t>
            </a:r>
          </a:p>
          <a:p>
            <a:r>
              <a:rPr lang="en-US" sz="1200" dirty="0">
                <a:solidFill>
                  <a:srgbClr val="5B6974"/>
                </a:solidFill>
                <a:latin typeface="Aptos"/>
              </a:rPr>
              <a:t>  - an exact cosine index;</a:t>
            </a:r>
          </a:p>
          <a:p>
            <a:r>
              <a:rPr lang="en-US" sz="1200" dirty="0">
                <a:solidFill>
                  <a:srgbClr val="5B6974"/>
                </a:solidFill>
                <a:latin typeface="Aptos"/>
              </a:rPr>
              <a:t>  - semantic search;</a:t>
            </a:r>
          </a:p>
          <a:p>
            <a:r>
              <a:rPr lang="en-US" sz="1200" dirty="0">
                <a:solidFill>
                  <a:srgbClr val="5B6974"/>
                </a:solidFill>
                <a:latin typeface="Aptos"/>
              </a:rPr>
              <a:t>  - `hybrid-semantic`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8BDF7C-4CEF-E721-6FD1-90E6A2C3895E}"/>
              </a:ext>
            </a:extLst>
          </p:cNvPr>
          <p:cNvSpPr txBox="1"/>
          <p:nvPr/>
        </p:nvSpPr>
        <p:spPr>
          <a:xfrm>
            <a:off x="8161456" y="3703321"/>
            <a:ext cx="35012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Where:</a:t>
            </a:r>
            <a:br>
              <a:rPr lang="en-US" sz="1200" dirty="0"/>
            </a:br>
            <a:r>
              <a:rPr lang="en-US" sz="1200" dirty="0"/>
              <a:t>- `</a:t>
            </a:r>
            <a:r>
              <a:rPr lang="en-US" sz="1200" b="1" dirty="0" err="1"/>
              <a:t>i</a:t>
            </a:r>
            <a:r>
              <a:rPr lang="en-US" sz="1200" dirty="0"/>
              <a:t>` represents the lexical or normalized channel;</a:t>
            </a:r>
          </a:p>
          <a:p>
            <a:r>
              <a:rPr lang="en-US" sz="1200" dirty="0"/>
              <a:t>- the default `</a:t>
            </a:r>
            <a:r>
              <a:rPr lang="en-US" sz="1200" b="1" dirty="0"/>
              <a:t>k</a:t>
            </a:r>
            <a:r>
              <a:rPr lang="en-US" sz="1200" dirty="0"/>
              <a:t>` is `</a:t>
            </a:r>
            <a:r>
              <a:rPr lang="en-US" sz="1200" b="1" dirty="0"/>
              <a:t>60</a:t>
            </a:r>
            <a:r>
              <a:rPr lang="en-US" sz="1200" dirty="0"/>
              <a:t>`;</a:t>
            </a:r>
          </a:p>
          <a:p>
            <a:r>
              <a:rPr lang="en-US" sz="1200" dirty="0"/>
              <a:t>- results are ordered by `</a:t>
            </a:r>
            <a:r>
              <a:rPr lang="en-US" sz="1200" b="1" dirty="0" err="1"/>
              <a:t>rrf_score</a:t>
            </a:r>
            <a:r>
              <a:rPr lang="en-US" sz="1200" dirty="0"/>
              <a:t>`;</a:t>
            </a:r>
          </a:p>
          <a:p>
            <a:r>
              <a:rPr lang="en-US" sz="1200" dirty="0"/>
              <a:t>- `</a:t>
            </a:r>
            <a:r>
              <a:rPr lang="en-US" sz="1200" b="1" dirty="0" err="1"/>
              <a:t>chunk_id</a:t>
            </a:r>
            <a:r>
              <a:rPr lang="en-US" sz="1200" dirty="0"/>
              <a:t>` is used as a stable tie-breaker;</a:t>
            </a:r>
          </a:p>
          <a:p>
            <a:r>
              <a:rPr lang="en-US" sz="1200" dirty="0"/>
              <a:t>- the final top-k results are returned.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B79FB149-1F3D-5AFE-58D5-794E2F4B8BF2}"/>
              </a:ext>
            </a:extLst>
          </p:cNvPr>
          <p:cNvSpPr/>
          <p:nvPr/>
        </p:nvSpPr>
        <p:spPr>
          <a:xfrm>
            <a:off x="6016752" y="3305683"/>
            <a:ext cx="422148" cy="576195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Canonical database: workflow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The canonical SQLite store owns review state, revisions, provenance, mappings, and approvals.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331720" cy="8229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9224" y="2167128"/>
            <a:ext cx="2221991" cy="6583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19304C"/>
                </a:solidFill>
                <a:latin typeface="Aptos"/>
              </a:rPr>
              <a:t>staged_requirements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53512" y="2468880"/>
            <a:ext cx="31089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74720" y="2057400"/>
            <a:ext cx="2331720" cy="82296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9584" y="2167128"/>
            <a:ext cx="2221991" cy="6583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19304C"/>
                </a:solidFill>
                <a:latin typeface="Aptos"/>
              </a:rPr>
              <a:t>canonical_requirements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33872" y="2468880"/>
            <a:ext cx="31089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55078" y="2057400"/>
            <a:ext cx="2541271" cy="82296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3" y="2167128"/>
            <a:ext cx="2304289" cy="243143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 dirty="0" err="1">
                <a:solidFill>
                  <a:srgbClr val="19304C"/>
                </a:solidFill>
                <a:latin typeface="Aptos"/>
              </a:rPr>
              <a:t>canonical_requirement_revisions</a:t>
            </a:r>
            <a:endParaRPr sz="1100" b="1" dirty="0">
              <a:solidFill>
                <a:srgbClr val="19304C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896349" y="2468880"/>
            <a:ext cx="310896" cy="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35440" y="2057400"/>
            <a:ext cx="2331720" cy="82296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4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90304" y="2167128"/>
            <a:ext cx="2221991" cy="6583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19304C"/>
                </a:solidFill>
                <a:latin typeface="Aptos"/>
              </a:rPr>
              <a:t>requirement_provenance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31920"/>
            <a:ext cx="4663440" cy="10515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4023359"/>
            <a:ext cx="4443983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F6F9F"/>
                </a:solidFill>
                <a:latin typeface="Aptos"/>
              </a:rPr>
              <a:t>Stored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407408"/>
            <a:ext cx="4443983" cy="48463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222B34"/>
                </a:solidFill>
                <a:latin typeface="Aptos"/>
              </a:rPr>
              <a:t>Source IDs · revisions · classifications · mapping approvals · workflow states · audit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931920"/>
            <a:ext cx="4663440" cy="105156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93408" y="4023359"/>
            <a:ext cx="4443983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Not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407408"/>
            <a:ext cx="4443983" cy="48463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222B34"/>
                </a:solidFill>
                <a:latin typeface="Aptos"/>
              </a:rPr>
              <a:t>RAG SQLite, CSV, JSON, Markdown, XLSX, and DOCX are derived, review, or compatibility artifacts.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806440"/>
            <a:ext cx="758952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600" b="1">
                <a:solidFill>
                  <a:srgbClr val="19304C"/>
                </a:solidFill>
                <a:latin typeface="Aptos"/>
              </a:rPr>
              <a:t>Database: data/canonical/canonical_store.sqlite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S2H: approved immutable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The snapshot freezes the exact approved input used by downstream generators.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35661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31181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F6F9F"/>
                </a:solidFill>
                <a:latin typeface="Aptos"/>
              </a:rPr>
              <a:t>Snapshot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29967"/>
            <a:ext cx="3118104" cy="2999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• Canonical revision set
• Approved mapping set
• Vocabulary and taxonomy hashes
• Architecture profile hashes
• Retrieval configuration hash
• Semantic flags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337560" cy="356616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645920"/>
            <a:ext cx="31181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Resolver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029967"/>
            <a:ext cx="3118104" cy="2999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approved_snapshot_resolver.py
--snapshot-id &lt;id&gt;
or
--use-latest-approved
Rejects incomplete, impacted, or unapproved snapshots.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337560" cy="356616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645920"/>
            <a:ext cx="31181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38487"/>
                </a:solidFill>
                <a:latin typeface="Aptos"/>
              </a:rPr>
              <a:t>Downstream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2029967"/>
            <a:ext cx="3118104" cy="2999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SRS / ARS / DRS / Digital IPOS / Analog IPOS consume the approved snapshot and approved architectural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15000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000" b="1">
                <a:solidFill>
                  <a:srgbClr val="19304C"/>
                </a:solidFill>
                <a:latin typeface="Aptos"/>
              </a:rPr>
              <a:t>Same snapshot + same configuration = reproducible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Downstream generation and block-level IPOS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All generated specifications preserve upstream provenance and remain downstream of snapshot authority.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1554480" cy="82296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2258568"/>
            <a:ext cx="1444752" cy="65836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Approved
snapshot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34440"/>
            <a:ext cx="1417320" cy="749808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98064" y="1344168"/>
            <a:ext cx="1307592" cy="5852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SRS
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31720"/>
            <a:ext cx="1417320" cy="749808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98064" y="2441448"/>
            <a:ext cx="1307592" cy="5852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ARS
Analog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429000"/>
            <a:ext cx="1417320" cy="749808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8064" y="3538728"/>
            <a:ext cx="1307592" cy="5852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19304C"/>
                </a:solidFill>
                <a:latin typeface="Aptos"/>
              </a:rPr>
              <a:t>DRS
Digital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7DB561-C804-FBC1-9F90-A1C5B77F8861}"/>
              </a:ext>
            </a:extLst>
          </p:cNvPr>
          <p:cNvGrpSpPr/>
          <p:nvPr/>
        </p:nvGrpSpPr>
        <p:grpSpPr>
          <a:xfrm>
            <a:off x="5486398" y="3390445"/>
            <a:ext cx="1874519" cy="822960"/>
            <a:chOff x="5486400" y="3355848"/>
            <a:chExt cx="1874519" cy="82296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3" name="Rounded Rectangle 12"/>
            <p:cNvSpPr/>
            <p:nvPr/>
          </p:nvSpPr>
          <p:spPr>
            <a:xfrm>
              <a:off x="5486400" y="3355848"/>
              <a:ext cx="1874519" cy="822960"/>
            </a:xfrm>
            <a:prstGeom prst="roundRect">
              <a:avLst/>
            </a:prstGeom>
            <a:grpFill/>
            <a:ln w="15240">
              <a:solidFill>
                <a:srgbClr val="23848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59554" y="3512779"/>
              <a:ext cx="1764791" cy="658368"/>
            </a:xfrm>
            <a:prstGeom prst="rect">
              <a:avLst/>
            </a:prstGeom>
            <a:grpFill/>
          </p:spPr>
          <p:txBody>
            <a:bodyPr wrap="square" lIns="73152" tIns="36576" rIns="73152" bIns="36576">
              <a:spAutoFit/>
            </a:bodyPr>
            <a:lstStyle/>
            <a:p>
              <a:pPr algn="ctr"/>
              <a:r>
                <a:rPr sz="1200" b="1" dirty="0">
                  <a:solidFill>
                    <a:srgbClr val="19304C"/>
                  </a:solidFill>
                  <a:latin typeface="Aptos"/>
                </a:rPr>
                <a:t>Digital IPOS
per block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90AC780-042C-9AC9-0150-2433F3E83C1C}"/>
              </a:ext>
            </a:extLst>
          </p:cNvPr>
          <p:cNvGrpSpPr/>
          <p:nvPr/>
        </p:nvGrpSpPr>
        <p:grpSpPr>
          <a:xfrm>
            <a:off x="5486398" y="2288351"/>
            <a:ext cx="1874519" cy="822960"/>
            <a:chOff x="8321040" y="1828800"/>
            <a:chExt cx="1874519" cy="822960"/>
          </a:xfrm>
        </p:grpSpPr>
        <p:sp>
          <p:nvSpPr>
            <p:cNvPr id="15" name="Rounded Rectangle 14"/>
            <p:cNvSpPr/>
            <p:nvPr/>
          </p:nvSpPr>
          <p:spPr>
            <a:xfrm>
              <a:off x="8321040" y="1828800"/>
              <a:ext cx="1874519" cy="822960"/>
            </a:xfrm>
            <a:prstGeom prst="roundRect">
              <a:avLst/>
            </a:prstGeom>
            <a:solidFill>
              <a:srgbClr val="FAF1E0"/>
            </a:solidFill>
            <a:ln w="15240">
              <a:solidFill>
                <a:srgbClr val="D380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375903" y="1998725"/>
              <a:ext cx="1764791" cy="443198"/>
            </a:xfrm>
            <a:prstGeom prst="rect">
              <a:avLst/>
            </a:prstGeom>
            <a:noFill/>
          </p:spPr>
          <p:txBody>
            <a:bodyPr wrap="square" lIns="73152" tIns="36576" rIns="73152" bIns="36576">
              <a:spAutoFit/>
            </a:bodyPr>
            <a:lstStyle/>
            <a:p>
              <a:pPr algn="ctr"/>
              <a:r>
                <a:rPr sz="1200" b="1" dirty="0">
                  <a:solidFill>
                    <a:srgbClr val="19304C"/>
                  </a:solidFill>
                  <a:latin typeface="Aptos"/>
                </a:rPr>
                <a:t>Analog IPOS
</a:t>
              </a:r>
              <a:r>
                <a:rPr sz="1200" b="1" u="sng" dirty="0">
                  <a:solidFill>
                    <a:srgbClr val="19304C"/>
                  </a:solidFill>
                  <a:latin typeface="Aptos"/>
                </a:rPr>
                <a:t>per</a:t>
              </a:r>
              <a:r>
                <a:rPr sz="1200" b="1" dirty="0">
                  <a:solidFill>
                    <a:srgbClr val="19304C"/>
                  </a:solidFill>
                  <a:latin typeface="Aptos"/>
                </a:rPr>
                <a:t> block</a:t>
              </a:r>
            </a:p>
          </p:txBody>
        </p:sp>
      </p:grpSp>
      <p:cxnSp>
        <p:nvCxnSpPr>
          <p:cNvPr id="17" name="Connector 16"/>
          <p:cNvCxnSpPr/>
          <p:nvPr/>
        </p:nvCxnSpPr>
        <p:spPr>
          <a:xfrm flipV="1">
            <a:off x="2267712" y="1600200"/>
            <a:ext cx="384048" cy="96012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67712" y="2560320"/>
            <a:ext cx="384048" cy="13716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267712" y="2560320"/>
            <a:ext cx="384048" cy="1234440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stCxn id="11" idx="3"/>
            <a:endCxn id="13" idx="1"/>
          </p:cNvCxnSpPr>
          <p:nvPr/>
        </p:nvCxnSpPr>
        <p:spPr>
          <a:xfrm flipV="1">
            <a:off x="4160520" y="3801925"/>
            <a:ext cx="1325878" cy="1979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9" idx="3"/>
            <a:endCxn id="15" idx="1"/>
          </p:cNvCxnSpPr>
          <p:nvPr/>
        </p:nvCxnSpPr>
        <p:spPr>
          <a:xfrm flipV="1">
            <a:off x="4160520" y="2699831"/>
            <a:ext cx="1325878" cy="6793"/>
          </a:xfrm>
          <a:prstGeom prst="line">
            <a:avLst/>
          </a:prstGeom>
          <a:ln w="20320">
            <a:solidFill>
              <a:srgbClr val="5B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828800" y="4572000"/>
            <a:ext cx="8595360" cy="1440180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4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38528" y="4663440"/>
            <a:ext cx="837590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408B5B"/>
                </a:solidFill>
                <a:latin typeface="Aptos"/>
              </a:rPr>
              <a:t>Output locations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5047488"/>
            <a:ext cx="8375904" cy="34747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>
                <a:solidFill>
                  <a:srgbClr val="222B34"/>
                </a:solidFill>
                <a:latin typeface="Aptos"/>
              </a:rPr>
              <a:t>artifacts/stage6_digital_ipos/blocks/&lt;block-slug&gt;/
artifacts/stage7_analog_ipos/blocks/&lt;block-slug&gt;/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Authority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Retrieval can find evidence; only approved workflow state can authorize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3566160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316382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38487"/>
                </a:solidFill>
                <a:latin typeface="Aptos"/>
              </a:rPr>
              <a:t>RAG 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84248"/>
            <a:ext cx="3163824" cy="2999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• Search chunks
• Return page and source provenance
• Support crosschecks
• Improve recall
• Provide review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98848" y="1600200"/>
            <a:ext cx="316382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RAG cannot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984248"/>
            <a:ext cx="3163824" cy="2999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• Approve a requirement
• Change canonical text
• Change mapping authority
• Create an approved snapshot
• Change coverage denominators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3566160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1600200"/>
            <a:ext cx="316382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F6F9F"/>
                </a:solidFill>
                <a:latin typeface="Aptos"/>
              </a:rPr>
              <a:t>Generation requires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984248"/>
            <a:ext cx="3163824" cy="299923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• Approved snapshot
• Approved mapping
• Current profiles
• Valid provenance
• Passing gates and crosschecks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715000"/>
            <a:ext cx="9418320" cy="365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100" b="1">
                <a:solidFill>
                  <a:srgbClr val="19304C"/>
                </a:solidFill>
                <a:latin typeface="Aptos"/>
              </a:rPr>
              <a:t>Deterministic · local-only · auditable · reproducible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2600" b="1">
                <a:solidFill>
                  <a:srgbClr val="19304C"/>
                </a:solidFill>
                <a:latin typeface="Aptos"/>
              </a:rPr>
              <a:t>Key files and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100" b="0">
                <a:solidFill>
                  <a:srgbClr val="5B6974"/>
                </a:solidFill>
                <a:latin typeface="Aptos"/>
              </a:rPr>
              <a:t>The workflow is implemented by local Python scripts and reviewable artifacts.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11109960" cy="22860"/>
          </a:xfrm>
          <a:prstGeom prst="rect">
            <a:avLst/>
          </a:prstGeom>
          <a:solidFill>
            <a:srgbClr val="23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1950" y="1325880"/>
            <a:ext cx="2975610" cy="1874519"/>
          </a:xfrm>
          <a:prstGeom prst="roundRect">
            <a:avLst/>
          </a:prstGeom>
          <a:solidFill>
            <a:srgbClr val="E7F1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252374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F6F9F"/>
                </a:solidFill>
                <a:latin typeface="Aptos"/>
              </a:rPr>
              <a:t>Source and Stage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950" y="1801368"/>
            <a:ext cx="2975610" cy="67403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 dirty="0">
                <a:solidFill>
                  <a:srgbClr val="222B34"/>
                </a:solidFill>
                <a:latin typeface="Aptos"/>
              </a:rPr>
              <a:t>s0_source_bootstrap.py
generate_stage0_ontology_outputs.py
validate_stage0_gate.py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87" y="1325880"/>
            <a:ext cx="2743200" cy="1874519"/>
          </a:xfrm>
          <a:prstGeom prst="roundRect">
            <a:avLst/>
          </a:prstGeom>
          <a:solidFill>
            <a:srgbClr val="E5F4F2"/>
          </a:solidFill>
          <a:ln w="15240">
            <a:solidFill>
              <a:srgbClr val="23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5887" y="1417320"/>
            <a:ext cx="252374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238487"/>
                </a:solidFill>
                <a:latin typeface="Aptos"/>
              </a:rPr>
              <a:t>Stage 1 and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1775388"/>
            <a:ext cx="2633471" cy="87408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 dirty="0">
                <a:solidFill>
                  <a:srgbClr val="222B34"/>
                </a:solidFill>
                <a:latin typeface="Aptos"/>
              </a:rPr>
              <a:t>extract_requirements_ocr.py
generate_stage1_requirements.py
build_rag_index.py
query_rag_index.py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1325880"/>
            <a:ext cx="2523744" cy="1874519"/>
          </a:xfrm>
          <a:prstGeom prst="roundRect">
            <a:avLst/>
          </a:prstGeom>
          <a:solidFill>
            <a:srgbClr val="FAF1E0"/>
          </a:solidFill>
          <a:ln w="15240">
            <a:solidFill>
              <a:srgbClr val="D38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1417320"/>
            <a:ext cx="215798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D3802B"/>
                </a:solidFill>
                <a:latin typeface="Aptos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1801368"/>
            <a:ext cx="2428875" cy="87408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 dirty="0">
                <a:solidFill>
                  <a:srgbClr val="222B34"/>
                </a:solidFill>
                <a:latin typeface="Aptos"/>
              </a:rPr>
              <a:t>canonical_store.py
merge_engine.py
snapshot_manager.py
approved_snapshot_resolver.py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25880"/>
            <a:ext cx="2468880" cy="1874519"/>
          </a:xfrm>
          <a:prstGeom prst="roundRect">
            <a:avLst/>
          </a:prstGeom>
          <a:solidFill>
            <a:srgbClr val="F4F7F9"/>
          </a:solidFill>
          <a:ln w="15240">
            <a:solidFill>
              <a:srgbClr val="408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53728" y="1417320"/>
            <a:ext cx="2249424" cy="310896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500" b="1">
                <a:solidFill>
                  <a:srgbClr val="408B5B"/>
                </a:solidFill>
                <a:latin typeface="Aptos"/>
              </a:rPr>
              <a:t>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1801368"/>
            <a:ext cx="2249424" cy="130759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300" b="0">
                <a:solidFill>
                  <a:srgbClr val="222B34"/>
                </a:solidFill>
                <a:latin typeface="Aptos"/>
              </a:rPr>
              <a:t>run_srs_gen_spec_agent.py
run_ars_gen_spec_agent.py
run_drs_gen_spec_agent.py
generate_ipos_specs.py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82880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700" b="1">
                <a:solidFill>
                  <a:srgbClr val="19304C"/>
                </a:solidFill>
                <a:latin typeface="Aptos"/>
              </a:rPr>
              <a:t>Main commands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241280" cy="15087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B34"/>
                </a:solidFill>
                <a:latin typeface="Aptos"/>
              </a:defRPr>
            </a:pPr>
            <a:r>
              <a:t>python scripts/run_stage0_gate0.py</a:t>
            </a:r>
          </a:p>
          <a:p>
            <a:pPr>
              <a:spcAft>
                <a:spcPts val="800"/>
              </a:spcAft>
              <a:defRPr sz="1400">
                <a:solidFill>
                  <a:srgbClr val="222B34"/>
                </a:solidFill>
                <a:latin typeface="Aptos"/>
              </a:defRPr>
            </a:pPr>
            <a:r>
              <a:t>python scripts/run_stage1_requirements_gate1.py</a:t>
            </a:r>
          </a:p>
          <a:p>
            <a:pPr>
              <a:spcAft>
                <a:spcPts val="800"/>
              </a:spcAft>
              <a:defRPr sz="1400">
                <a:solidFill>
                  <a:srgbClr val="222B34"/>
                </a:solidFill>
                <a:latin typeface="Aptos"/>
              </a:defRPr>
            </a:pPr>
            <a:r>
              <a:t>python scripts/build_rag_index.py</a:t>
            </a:r>
          </a:p>
          <a:p>
            <a:pPr>
              <a:spcAft>
                <a:spcPts val="800"/>
              </a:spcAft>
              <a:defRPr sz="1400">
                <a:solidFill>
                  <a:srgbClr val="222B34"/>
                </a:solidFill>
                <a:latin typeface="Aptos"/>
              </a:defRPr>
            </a:pPr>
            <a:r>
              <a:t>python scripts/query_rag_index.py --query "shall OR must" --mode hybrid --top-k 10</a:t>
            </a:r>
          </a:p>
          <a:p>
            <a:pPr>
              <a:spcAft>
                <a:spcPts val="800"/>
              </a:spcAft>
              <a:defRPr sz="1400">
                <a:solidFill>
                  <a:srgbClr val="222B34"/>
                </a:solidFill>
                <a:latin typeface="Aptos"/>
              </a:defRPr>
            </a:pPr>
            <a:r>
              <a:t>python scripts/generate_ipos_specs.py --kind digital --use-latest-approved</a:t>
            </a:r>
          </a:p>
          <a:p>
            <a:pPr>
              <a:spcAft>
                <a:spcPts val="800"/>
              </a:spcAft>
              <a:defRPr sz="1400">
                <a:solidFill>
                  <a:srgbClr val="222B34"/>
                </a:solidFill>
                <a:latin typeface="Aptos"/>
              </a:defRPr>
            </a:pPr>
            <a:r>
              <a:t>python scripts/generate_ipos_specs.py --kind analog --use-latest-approved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37960"/>
            <a:ext cx="502920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800" b="0">
                <a:solidFill>
                  <a:srgbClr val="5B6974"/>
                </a:solidFill>
                <a:latin typeface="Aptos"/>
              </a:rPr>
              <a:t>Source-to-Canonical RAG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37960"/>
            <a:ext cx="32004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r"/>
            <a:r>
              <a:rPr sz="800" b="0">
                <a:solidFill>
                  <a:srgbClr val="5B697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29</TotalTime>
  <Words>1311</Words>
  <Application>Microsoft Office PowerPoint</Application>
  <PresentationFormat>Widescreen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ST PowerPoint Template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Lucio IANNUZZI</dc:creator>
  <cp:keywords/>
  <cp:lastModifiedBy>Alessandro Lucio IANNUZZI</cp:lastModifiedBy>
  <cp:revision>8</cp:revision>
  <dcterms:created xsi:type="dcterms:W3CDTF">2026-08-18T09:14:56Z</dcterms:created>
  <dcterms:modified xsi:type="dcterms:W3CDTF">2026-09-10T12:47:30Z</dcterms:modified>
</cp:coreProperties>
</file>