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62" r:id="rId2"/>
    <p:sldId id="290" r:id="rId3"/>
    <p:sldId id="289" r:id="rId4"/>
    <p:sldId id="291" r:id="rId5"/>
    <p:sldId id="292" r:id="rId6"/>
    <p:sldId id="265" r:id="rId7"/>
    <p:sldId id="293" r:id="rId8"/>
    <p:sldId id="294" r:id="rId9"/>
    <p:sldId id="306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62"/>
            <p14:sldId id="290"/>
            <p14:sldId id="289"/>
            <p14:sldId id="291"/>
            <p14:sldId id="292"/>
            <p14:sldId id="265"/>
            <p14:sldId id="293"/>
            <p14:sldId id="294"/>
            <p14:sldId id="306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007E"/>
    <a:srgbClr val="8C0078"/>
    <a:srgbClr val="04572F"/>
    <a:srgbClr val="EEEFF1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76" d="100"/>
          <a:sy n="76" d="100"/>
        </p:scale>
        <p:origin x="3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441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titl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  <p:pic>
        <p:nvPicPr>
          <p:cNvPr id="6" name="Graphic 7">
            <a:extLst>
              <a:ext uri="{FF2B5EF4-FFF2-40B4-BE49-F238E27FC236}">
                <a16:creationId xmlns:a16="http://schemas.microsoft.com/office/drawing/2014/main" id="{0A935D2C-8C8E-184B-D8FC-8FF74926C0C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79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3052DD4-CDE3-4E33-AB80-AED4CE4AC3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33052DD4-CDE3-4E33-AB80-AED4CE4AC39A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9" r:id="rId8"/>
    <p:sldLayoutId id="2147483671" r:id="rId9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brandportal.st.com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B49D3ED-12A5-44AC-B654-9458A5FBEC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5999" y="2077965"/>
            <a:ext cx="5795963" cy="2702071"/>
          </a:xfrm>
        </p:spPr>
        <p:txBody>
          <a:bodyPr/>
          <a:lstStyle/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on multiple lines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12613E07-DCF2-4461-AFF5-7A705127F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5015060"/>
            <a:ext cx="5795963" cy="1077764"/>
          </a:xfrm>
        </p:spPr>
        <p:txBody>
          <a:bodyPr/>
          <a:lstStyle/>
          <a:p>
            <a:r>
              <a:rPr lang="en-US" dirty="0"/>
              <a:t>Presenter name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EE23721-DB44-4FE9-3CDF-ADA761E876C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2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006ACC-E987-C7A7-3422-103A76A40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B3432E-AE69-5F85-0FC5-BB84AD77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BE283-3F05-E017-3083-62357D85A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1649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CEAB7B2-18FF-0F8A-4F0E-13BCDDA0C8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25ABBE-4D09-483B-5C21-E45ACF14AB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91649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9F1601A-C562-E0EB-4DA5-35272C971F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A4DC94-3104-7B9D-1C3F-226D735233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91649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E17351-FECB-90FB-FC8B-21FE515491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B923B5-21FB-5D6E-C8AF-C55874717F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1649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A796A7-59BA-96DB-B4E2-051CD044BD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0EDDEC-C159-3CA4-8580-ED598064B3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87611" y="1487433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E3F8495-6BFB-B003-7D8D-06A0F6B6E5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409FD5-92A9-6C0D-B523-BE46615AB5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87611" y="2624425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5812348-DC9C-298C-78E8-778E568C3C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553CA5-37D8-ED06-91E8-F0CCB01920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887611" y="3761417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80372B2-A31B-2B16-C85F-4BD58C0612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846565-D8A4-51A3-B78C-F5826B0A81A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87611" y="4898408"/>
            <a:ext cx="4754880" cy="731520"/>
          </a:xfrm>
        </p:spPr>
        <p:txBody>
          <a:bodyPr/>
          <a:lstStyle/>
          <a:p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69568E-652B-AE68-64CF-60695826F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6F1A30-1F85-0487-1A9C-F26878D0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Section title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8D742-083C-94FB-0E34-4A85F2E988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EF3D03A-A9C6-23ED-D421-D8DBD91504B1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B9E9B98-996A-C191-F84C-7450EBE0923D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C88344D3-877E-1588-F71C-5C1F9E8B0C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201168"/>
          </a:xfrm>
          <a:prstGeom prst="rect">
            <a:avLst/>
          </a:prstGeom>
          <a:solidFill>
            <a:srgbClr val="1A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1">
                <a:solidFill>
                  <a:srgbClr val="98D3CF"/>
                </a:solidFill>
              </a:defRPr>
            </a:pPr>
            <a:r>
              <a:t>STBIO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74519"/>
            <a:ext cx="106984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Workflow Main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000" b="0">
                <a:solidFill>
                  <a:srgbClr val="E1EEF8"/>
                </a:solidFill>
              </a:defRPr>
            </a:pPr>
            <a:r>
              <a:t>Canonical stage-gated requirements engineering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969264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98D3CF"/>
                </a:solidFill>
              </a:defRPr>
            </a:pPr>
            <a:r>
              <a:t>Source fidelity | Explicit approvals | Immutable snapshots | Traceable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52160"/>
            <a:ext cx="2743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0">
                <a:solidFill>
                  <a:srgbClr val="E1EEF8"/>
                </a:solidFill>
              </a:defRPr>
            </a:pPr>
            <a:r>
              <a:t>September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0142"/>
            <a:ext cx="896112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/>
              <a:t>Central rules &amp; coordination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16 governed transitions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239520" y="6465316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rPr dirty="0"/>
              <a:t>STBIO AI | Deterministic, stage-gated engineering workflow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2</a:t>
            </a: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77CEAB4-4CDF-9152-2631-343953B7CBF0}"/>
              </a:ext>
            </a:extLst>
          </p:cNvPr>
          <p:cNvSpPr/>
          <p:nvPr/>
        </p:nvSpPr>
        <p:spPr>
          <a:xfrm>
            <a:off x="3137116" y="1096883"/>
            <a:ext cx="5917770" cy="1284301"/>
          </a:xfrm>
          <a:prstGeom prst="roundRect">
            <a:avLst>
              <a:gd name="adj" fmla="val 10000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0">
            <a:schemeClr val="accent2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b="1" dirty="0"/>
              <a:t>Copilot-instructions.md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Cross-functional general policy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Shared principles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Global framework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1511B15-B938-25B6-A0DE-0F9F36FDDA79}"/>
              </a:ext>
            </a:extLst>
          </p:cNvPr>
          <p:cNvGrpSpPr/>
          <p:nvPr/>
        </p:nvGrpSpPr>
        <p:grpSpPr>
          <a:xfrm>
            <a:off x="3137115" y="2758987"/>
            <a:ext cx="5917769" cy="1044583"/>
            <a:chOff x="571931" y="619563"/>
            <a:chExt cx="9740468" cy="495179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3D5D980-598B-3FB3-AC97-914841823969}"/>
                </a:ext>
              </a:extLst>
            </p:cNvPr>
            <p:cNvSpPr/>
            <p:nvPr/>
          </p:nvSpPr>
          <p:spPr>
            <a:xfrm>
              <a:off x="571931" y="619563"/>
              <a:ext cx="9740468" cy="49517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40B6FA8-2088-6EAA-A25E-F90DCCFE633B}"/>
                </a:ext>
              </a:extLst>
            </p:cNvPr>
            <p:cNvSpPr txBox="1"/>
            <p:nvPr/>
          </p:nvSpPr>
          <p:spPr>
            <a:xfrm>
              <a:off x="571931" y="619563"/>
              <a:ext cx="9740468" cy="49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406" tIns="52406" rIns="52406" bIns="52406" numCol="1" spcCol="1270" anchor="ctr" anchorCtr="0">
              <a:noAutofit/>
            </a:bodyPr>
            <a:lstStyle/>
            <a:p>
              <a:r>
                <a:rPr lang="en-US" b="1" dirty="0"/>
                <a:t>workflow-stage-gate/SKILL.md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Canonical operational contract of the workflow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Practical application of policies to gates and stages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270FDAB-7DDB-A88A-6785-C0B082AB9DB7}"/>
              </a:ext>
            </a:extLst>
          </p:cNvPr>
          <p:cNvGrpSpPr/>
          <p:nvPr/>
        </p:nvGrpSpPr>
        <p:grpSpPr>
          <a:xfrm>
            <a:off x="3137115" y="4293298"/>
            <a:ext cx="5917769" cy="1833578"/>
            <a:chOff x="571931" y="619563"/>
            <a:chExt cx="9740468" cy="495179"/>
          </a:xfrm>
        </p:grpSpPr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224BB118-2DC4-2DF3-C382-BB744B5F310C}"/>
                </a:ext>
              </a:extLst>
            </p:cNvPr>
            <p:cNvSpPr/>
            <p:nvPr/>
          </p:nvSpPr>
          <p:spPr>
            <a:xfrm>
              <a:off x="571931" y="619563"/>
              <a:ext cx="9740468" cy="49517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7702B78-FECD-5E40-16E9-17998D5DF8E2}"/>
                </a:ext>
              </a:extLst>
            </p:cNvPr>
            <p:cNvSpPr txBox="1"/>
            <p:nvPr/>
          </p:nvSpPr>
          <p:spPr>
            <a:xfrm>
              <a:off x="571931" y="619563"/>
              <a:ext cx="9740468" cy="49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2406" tIns="52406" rIns="52406" bIns="52406" numCol="1" spcCol="1270" anchor="ctr" anchorCtr="0">
              <a:noAutofit/>
            </a:bodyPr>
            <a:lstStyle/>
            <a:p>
              <a:r>
                <a:rPr lang="en-US" b="1" dirty="0"/>
                <a:t>workflow-orchestrator.agent.md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Coordination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High-level enforcement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Delegation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Run/gate status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dirty="0"/>
                <a:t>It must not duplicate detailed policies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DB4B7-169A-4DF0-1BE8-AFD956C0D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5AEA81-80BC-B7BA-CF78-68AAE36505EF}"/>
              </a:ext>
            </a:extLst>
          </p:cNvPr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9663E5-F5EE-456F-A3FB-079377CCCEF8}"/>
              </a:ext>
            </a:extLst>
          </p:cNvPr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Canonical Workflow At A Glance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2AD9E7-06B7-FB46-A69A-090450CDF7A8}"/>
              </a:ext>
            </a:extLst>
          </p:cNvPr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16 governed transitions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8B9604E-2605-8182-D58A-0361587543DE}"/>
              </a:ext>
            </a:extLst>
          </p:cNvPr>
          <p:cNvSpPr/>
          <p:nvPr/>
        </p:nvSpPr>
        <p:spPr>
          <a:xfrm>
            <a:off x="530352" y="1417320"/>
            <a:ext cx="1143000" cy="987552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0FE20B-7657-D67A-A57C-66B7357FD141}"/>
              </a:ext>
            </a:extLst>
          </p:cNvPr>
          <p:cNvSpPr txBox="1"/>
          <p:nvPr/>
        </p:nvSpPr>
        <p:spPr>
          <a:xfrm>
            <a:off x="676656" y="15270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DDE739-1BAE-E639-0E2F-DD55818CA2DA}"/>
              </a:ext>
            </a:extLst>
          </p:cNvPr>
          <p:cNvSpPr txBox="1"/>
          <p:nvPr/>
        </p:nvSpPr>
        <p:spPr>
          <a:xfrm>
            <a:off x="676656" y="19019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Primary</a:t>
            </a:r>
            <a:br/>
            <a:r>
              <a:t>Baseline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F6E6696-F2A2-55BE-F3EB-69060AC21A47}"/>
              </a:ext>
            </a:extLst>
          </p:cNvPr>
          <p:cNvSpPr/>
          <p:nvPr/>
        </p:nvSpPr>
        <p:spPr>
          <a:xfrm>
            <a:off x="1975104" y="1417320"/>
            <a:ext cx="1143000" cy="987552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6F56B0-2CE4-7EDB-306F-BAB1800CFCC6}"/>
              </a:ext>
            </a:extLst>
          </p:cNvPr>
          <p:cNvSpPr txBox="1"/>
          <p:nvPr/>
        </p:nvSpPr>
        <p:spPr>
          <a:xfrm>
            <a:off x="2121408" y="15270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576246-4CC5-EEE7-26BC-0E61B5A9AA18}"/>
              </a:ext>
            </a:extLst>
          </p:cNvPr>
          <p:cNvSpPr txBox="1"/>
          <p:nvPr/>
        </p:nvSpPr>
        <p:spPr>
          <a:xfrm>
            <a:off x="2121408" y="19019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Ingest +</a:t>
            </a:r>
            <a:br/>
            <a:r>
              <a:t>Extract</a:t>
            </a: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66B510BC-41E6-1DCF-92C4-77AC1ED88CD0}"/>
              </a:ext>
            </a:extLst>
          </p:cNvPr>
          <p:cNvCxnSpPr/>
          <p:nvPr/>
        </p:nvCxnSpPr>
        <p:spPr>
          <a:xfrm>
            <a:off x="1673352" y="19110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AB4228A-BFD4-4568-B13B-02252132BE0D}"/>
              </a:ext>
            </a:extLst>
          </p:cNvPr>
          <p:cNvSpPr/>
          <p:nvPr/>
        </p:nvSpPr>
        <p:spPr>
          <a:xfrm>
            <a:off x="3419856" y="1417320"/>
            <a:ext cx="1143000" cy="987552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B686CC-573F-C15A-289A-651738CC2E1A}"/>
              </a:ext>
            </a:extLst>
          </p:cNvPr>
          <p:cNvSpPr txBox="1"/>
          <p:nvPr/>
        </p:nvSpPr>
        <p:spPr>
          <a:xfrm>
            <a:off x="3566160" y="15270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B928E9-2B85-9F47-8797-CD98E26F39BE}"/>
              </a:ext>
            </a:extLst>
          </p:cNvPr>
          <p:cNvSpPr txBox="1"/>
          <p:nvPr/>
        </p:nvSpPr>
        <p:spPr>
          <a:xfrm>
            <a:off x="3566160" y="19019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Classify +</a:t>
            </a:r>
            <a:br/>
            <a:r>
              <a:t>Preview</a:t>
            </a:r>
          </a:p>
        </p:txBody>
      </p:sp>
      <p:cxnSp>
        <p:nvCxnSpPr>
          <p:cNvPr id="15" name="Connector 14">
            <a:extLst>
              <a:ext uri="{FF2B5EF4-FFF2-40B4-BE49-F238E27FC236}">
                <a16:creationId xmlns:a16="http://schemas.microsoft.com/office/drawing/2014/main" id="{A5CB3129-D49C-658E-45C7-808CB2623956}"/>
              </a:ext>
            </a:extLst>
          </p:cNvPr>
          <p:cNvCxnSpPr/>
          <p:nvPr/>
        </p:nvCxnSpPr>
        <p:spPr>
          <a:xfrm>
            <a:off x="3118104" y="19110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6224B5B-21DB-6769-0D25-F87C892492AF}"/>
              </a:ext>
            </a:extLst>
          </p:cNvPr>
          <p:cNvSpPr/>
          <p:nvPr/>
        </p:nvSpPr>
        <p:spPr>
          <a:xfrm>
            <a:off x="4864608" y="1417320"/>
            <a:ext cx="1143000" cy="987552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98C990-AE87-71CA-85EA-5F63E1476304}"/>
              </a:ext>
            </a:extLst>
          </p:cNvPr>
          <p:cNvSpPr txBox="1"/>
          <p:nvPr/>
        </p:nvSpPr>
        <p:spPr>
          <a:xfrm>
            <a:off x="5010912" y="15270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319A49-4877-819A-F1AD-8F7986C2D052}"/>
              </a:ext>
            </a:extLst>
          </p:cNvPr>
          <p:cNvSpPr txBox="1"/>
          <p:nvPr/>
        </p:nvSpPr>
        <p:spPr>
          <a:xfrm>
            <a:off x="5010912" y="19019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Staging</a:t>
            </a:r>
            <a:br/>
            <a:r>
              <a:t>Review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88AD40AB-FCE7-8322-5942-D80B4876D559}"/>
              </a:ext>
            </a:extLst>
          </p:cNvPr>
          <p:cNvCxnSpPr/>
          <p:nvPr/>
        </p:nvCxnSpPr>
        <p:spPr>
          <a:xfrm>
            <a:off x="4562856" y="19110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CBDD4EB-07A3-EFEE-8A73-82A19D552AF4}"/>
              </a:ext>
            </a:extLst>
          </p:cNvPr>
          <p:cNvSpPr/>
          <p:nvPr/>
        </p:nvSpPr>
        <p:spPr>
          <a:xfrm>
            <a:off x="6309360" y="1417320"/>
            <a:ext cx="1143000" cy="987552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F53F2F-7F36-1DB3-1917-84F12DC69949}"/>
              </a:ext>
            </a:extLst>
          </p:cNvPr>
          <p:cNvSpPr txBox="1"/>
          <p:nvPr/>
        </p:nvSpPr>
        <p:spPr>
          <a:xfrm>
            <a:off x="6455664" y="15270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S2B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DBFA31-E00F-5D2F-A664-2AF05D438BBF}"/>
              </a:ext>
            </a:extLst>
          </p:cNvPr>
          <p:cNvSpPr txBox="1"/>
          <p:nvPr/>
        </p:nvSpPr>
        <p:spPr>
          <a:xfrm>
            <a:off x="6455664" y="19019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Merge</a:t>
            </a:r>
            <a:br/>
            <a:r>
              <a:t>Impact</a:t>
            </a:r>
          </a:p>
        </p:txBody>
      </p:sp>
      <p:cxnSp>
        <p:nvCxnSpPr>
          <p:cNvPr id="23" name="Connector 22">
            <a:extLst>
              <a:ext uri="{FF2B5EF4-FFF2-40B4-BE49-F238E27FC236}">
                <a16:creationId xmlns:a16="http://schemas.microsoft.com/office/drawing/2014/main" id="{B5C8F5AC-D408-D368-2B9B-DAA9984F8AFC}"/>
              </a:ext>
            </a:extLst>
          </p:cNvPr>
          <p:cNvCxnSpPr/>
          <p:nvPr/>
        </p:nvCxnSpPr>
        <p:spPr>
          <a:xfrm>
            <a:off x="6007608" y="19110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4D907F5-2241-922A-C9BE-78DDB082313E}"/>
              </a:ext>
            </a:extLst>
          </p:cNvPr>
          <p:cNvSpPr/>
          <p:nvPr/>
        </p:nvSpPr>
        <p:spPr>
          <a:xfrm>
            <a:off x="7754112" y="1417320"/>
            <a:ext cx="1143000" cy="987552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D4FA65-99C0-8486-87B1-7E7C9AB76213}"/>
              </a:ext>
            </a:extLst>
          </p:cNvPr>
          <p:cNvSpPr txBox="1"/>
          <p:nvPr/>
        </p:nvSpPr>
        <p:spPr>
          <a:xfrm>
            <a:off x="7900416" y="15270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0E738A-E1C1-09B7-E526-B21B7C044938}"/>
              </a:ext>
            </a:extLst>
          </p:cNvPr>
          <p:cNvSpPr txBox="1"/>
          <p:nvPr/>
        </p:nvSpPr>
        <p:spPr>
          <a:xfrm>
            <a:off x="7900416" y="19019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Merge</a:t>
            </a:r>
            <a:br/>
            <a:r>
              <a:t>Approval</a:t>
            </a:r>
          </a:p>
        </p:txBody>
      </p:sp>
      <p:cxnSp>
        <p:nvCxnSpPr>
          <p:cNvPr id="27" name="Connector 26">
            <a:extLst>
              <a:ext uri="{FF2B5EF4-FFF2-40B4-BE49-F238E27FC236}">
                <a16:creationId xmlns:a16="http://schemas.microsoft.com/office/drawing/2014/main" id="{8508D9F2-0635-BDC2-D05B-D695EAC15427}"/>
              </a:ext>
            </a:extLst>
          </p:cNvPr>
          <p:cNvCxnSpPr/>
          <p:nvPr/>
        </p:nvCxnSpPr>
        <p:spPr>
          <a:xfrm>
            <a:off x="7452360" y="19110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EE63623-7850-0AD8-3599-8D92CF6805FC}"/>
              </a:ext>
            </a:extLst>
          </p:cNvPr>
          <p:cNvSpPr/>
          <p:nvPr/>
        </p:nvSpPr>
        <p:spPr>
          <a:xfrm>
            <a:off x="9198864" y="1417320"/>
            <a:ext cx="1143000" cy="987552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0D233F-2B30-DAA1-05BE-1CC3EBCFCE63}"/>
              </a:ext>
            </a:extLst>
          </p:cNvPr>
          <p:cNvSpPr txBox="1"/>
          <p:nvPr/>
        </p:nvSpPr>
        <p:spPr>
          <a:xfrm>
            <a:off x="9345168" y="15270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S2D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FB49FD-6E06-6DEA-B195-52BFD4FA98D9}"/>
              </a:ext>
            </a:extLst>
          </p:cNvPr>
          <p:cNvSpPr txBox="1"/>
          <p:nvPr/>
        </p:nvSpPr>
        <p:spPr>
          <a:xfrm>
            <a:off x="9345168" y="19019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Canonical</a:t>
            </a:r>
            <a:br/>
            <a:r>
              <a:t>Merge</a:t>
            </a:r>
          </a:p>
        </p:txBody>
      </p:sp>
      <p:cxnSp>
        <p:nvCxnSpPr>
          <p:cNvPr id="31" name="Connector 30">
            <a:extLst>
              <a:ext uri="{FF2B5EF4-FFF2-40B4-BE49-F238E27FC236}">
                <a16:creationId xmlns:a16="http://schemas.microsoft.com/office/drawing/2014/main" id="{1F9E9D62-6D17-AC11-454D-BD57083C876C}"/>
              </a:ext>
            </a:extLst>
          </p:cNvPr>
          <p:cNvCxnSpPr/>
          <p:nvPr/>
        </p:nvCxnSpPr>
        <p:spPr>
          <a:xfrm>
            <a:off x="8897112" y="19110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B4B43D9-06D6-D793-CD21-D148F724F4B3}"/>
              </a:ext>
            </a:extLst>
          </p:cNvPr>
          <p:cNvSpPr/>
          <p:nvPr/>
        </p:nvSpPr>
        <p:spPr>
          <a:xfrm>
            <a:off x="10643616" y="1417320"/>
            <a:ext cx="1143000" cy="987552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1A166-C8E7-A6CD-0C7A-598A29EEDC46}"/>
              </a:ext>
            </a:extLst>
          </p:cNvPr>
          <p:cNvSpPr txBox="1"/>
          <p:nvPr/>
        </p:nvSpPr>
        <p:spPr>
          <a:xfrm>
            <a:off x="10789920" y="15270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S2E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CE464B5-1740-BF65-BCE1-EF002A563981}"/>
              </a:ext>
            </a:extLst>
          </p:cNvPr>
          <p:cNvSpPr txBox="1"/>
          <p:nvPr/>
        </p:nvSpPr>
        <p:spPr>
          <a:xfrm>
            <a:off x="10789920" y="19019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Refresh</a:t>
            </a:r>
            <a:br/>
            <a:r>
              <a:t>Index</a:t>
            </a:r>
          </a:p>
        </p:txBody>
      </p: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C9D202BE-7A0B-4007-96B9-4F51A7251D7F}"/>
              </a:ext>
            </a:extLst>
          </p:cNvPr>
          <p:cNvCxnSpPr/>
          <p:nvPr/>
        </p:nvCxnSpPr>
        <p:spPr>
          <a:xfrm>
            <a:off x="10341864" y="19110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1385AD13-1BC8-17EE-6A40-9D98AB95E8C5}"/>
              </a:ext>
            </a:extLst>
          </p:cNvPr>
          <p:cNvSpPr/>
          <p:nvPr/>
        </p:nvSpPr>
        <p:spPr>
          <a:xfrm>
            <a:off x="530352" y="3246120"/>
            <a:ext cx="1143000" cy="987552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C29476-C89E-13B9-5D21-D712EC34ECC6}"/>
              </a:ext>
            </a:extLst>
          </p:cNvPr>
          <p:cNvSpPr txBox="1"/>
          <p:nvPr/>
        </p:nvSpPr>
        <p:spPr>
          <a:xfrm>
            <a:off x="676656" y="33558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D88EB4-DE10-1FAB-D129-70F2E0648107}"/>
              </a:ext>
            </a:extLst>
          </p:cNvPr>
          <p:cNvSpPr txBox="1"/>
          <p:nvPr/>
        </p:nvSpPr>
        <p:spPr>
          <a:xfrm>
            <a:off x="676656" y="37307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Map</a:t>
            </a:r>
            <a:br/>
            <a:r>
              <a:t>Review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0D101691-939B-ADBC-0DA6-313A22960545}"/>
              </a:ext>
            </a:extLst>
          </p:cNvPr>
          <p:cNvSpPr/>
          <p:nvPr/>
        </p:nvSpPr>
        <p:spPr>
          <a:xfrm>
            <a:off x="1975104" y="3246120"/>
            <a:ext cx="1143000" cy="987552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1989B6-C45B-75FE-3601-4B7CFD84205B}"/>
              </a:ext>
            </a:extLst>
          </p:cNvPr>
          <p:cNvSpPr txBox="1"/>
          <p:nvPr/>
        </p:nvSpPr>
        <p:spPr>
          <a:xfrm>
            <a:off x="2121408" y="33558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3D6C86-DBE7-733B-CA1A-4448686D5A36}"/>
              </a:ext>
            </a:extLst>
          </p:cNvPr>
          <p:cNvSpPr txBox="1"/>
          <p:nvPr/>
        </p:nvSpPr>
        <p:spPr>
          <a:xfrm>
            <a:off x="2121408" y="37307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Map</a:t>
            </a:r>
            <a:br/>
            <a:r>
              <a:t>Approval</a:t>
            </a:r>
          </a:p>
        </p:txBody>
      </p:sp>
      <p:cxnSp>
        <p:nvCxnSpPr>
          <p:cNvPr id="42" name="Connector 41">
            <a:extLst>
              <a:ext uri="{FF2B5EF4-FFF2-40B4-BE49-F238E27FC236}">
                <a16:creationId xmlns:a16="http://schemas.microsoft.com/office/drawing/2014/main" id="{DCCAD2FF-D9FE-1637-208C-6D310A4F4C54}"/>
              </a:ext>
            </a:extLst>
          </p:cNvPr>
          <p:cNvCxnSpPr/>
          <p:nvPr/>
        </p:nvCxnSpPr>
        <p:spPr>
          <a:xfrm>
            <a:off x="1673352" y="37398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0412ADD-5EEC-D45E-74BE-D0B9F6B96E9B}"/>
              </a:ext>
            </a:extLst>
          </p:cNvPr>
          <p:cNvSpPr/>
          <p:nvPr/>
        </p:nvSpPr>
        <p:spPr>
          <a:xfrm>
            <a:off x="3419856" y="3246120"/>
            <a:ext cx="1143000" cy="987552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F1C2370-8D31-0FA8-B972-48518D1315B8}"/>
              </a:ext>
            </a:extLst>
          </p:cNvPr>
          <p:cNvSpPr txBox="1"/>
          <p:nvPr/>
        </p:nvSpPr>
        <p:spPr>
          <a:xfrm>
            <a:off x="3566160" y="33558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S2H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4253A34-2C30-5E04-7300-B4EB977756FF}"/>
              </a:ext>
            </a:extLst>
          </p:cNvPr>
          <p:cNvSpPr txBox="1"/>
          <p:nvPr/>
        </p:nvSpPr>
        <p:spPr>
          <a:xfrm>
            <a:off x="3566160" y="37307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Approved</a:t>
            </a:r>
            <a:br/>
            <a:r>
              <a:t>Snapshot</a:t>
            </a:r>
          </a:p>
        </p:txBody>
      </p:sp>
      <p:cxnSp>
        <p:nvCxnSpPr>
          <p:cNvPr id="46" name="Connector 45">
            <a:extLst>
              <a:ext uri="{FF2B5EF4-FFF2-40B4-BE49-F238E27FC236}">
                <a16:creationId xmlns:a16="http://schemas.microsoft.com/office/drawing/2014/main" id="{28085949-77C6-9AB4-6AAE-D52AC20BFD6B}"/>
              </a:ext>
            </a:extLst>
          </p:cNvPr>
          <p:cNvCxnSpPr/>
          <p:nvPr/>
        </p:nvCxnSpPr>
        <p:spPr>
          <a:xfrm>
            <a:off x="3118104" y="37398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5713B5E-BCD5-9A2E-6C0C-FB6D8A47E094}"/>
              </a:ext>
            </a:extLst>
          </p:cNvPr>
          <p:cNvSpPr/>
          <p:nvPr/>
        </p:nvSpPr>
        <p:spPr>
          <a:xfrm>
            <a:off x="4864608" y="3246120"/>
            <a:ext cx="1143000" cy="987552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9D77D1B-7D64-7007-A724-2E7357AFD6A1}"/>
              </a:ext>
            </a:extLst>
          </p:cNvPr>
          <p:cNvSpPr txBox="1"/>
          <p:nvPr/>
        </p:nvSpPr>
        <p:spPr>
          <a:xfrm>
            <a:off x="5010912" y="33558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7FAAE38-6DB2-CCFD-EF03-127EAD16F950}"/>
              </a:ext>
            </a:extLst>
          </p:cNvPr>
          <p:cNvSpPr txBox="1"/>
          <p:nvPr/>
        </p:nvSpPr>
        <p:spPr>
          <a:xfrm>
            <a:off x="5010912" y="37307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SRS</a:t>
            </a:r>
          </a:p>
        </p:txBody>
      </p:sp>
      <p:cxnSp>
        <p:nvCxnSpPr>
          <p:cNvPr id="50" name="Connector 49">
            <a:extLst>
              <a:ext uri="{FF2B5EF4-FFF2-40B4-BE49-F238E27FC236}">
                <a16:creationId xmlns:a16="http://schemas.microsoft.com/office/drawing/2014/main" id="{48CD3857-9E5C-84EF-D583-4C54C8D11D14}"/>
              </a:ext>
            </a:extLst>
          </p:cNvPr>
          <p:cNvCxnSpPr/>
          <p:nvPr/>
        </p:nvCxnSpPr>
        <p:spPr>
          <a:xfrm>
            <a:off x="4562856" y="37398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2CFFC25B-F903-C45B-34A5-AF8873041924}"/>
              </a:ext>
            </a:extLst>
          </p:cNvPr>
          <p:cNvSpPr/>
          <p:nvPr/>
        </p:nvSpPr>
        <p:spPr>
          <a:xfrm>
            <a:off x="6309360" y="3246120"/>
            <a:ext cx="1143000" cy="987552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411FA4-201D-F2C6-B937-BE5CE45961B2}"/>
              </a:ext>
            </a:extLst>
          </p:cNvPr>
          <p:cNvSpPr txBox="1"/>
          <p:nvPr/>
        </p:nvSpPr>
        <p:spPr>
          <a:xfrm>
            <a:off x="6455664" y="33558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2E2B79-3A84-3FAB-4324-31CA84D693F4}"/>
              </a:ext>
            </a:extLst>
          </p:cNvPr>
          <p:cNvSpPr txBox="1"/>
          <p:nvPr/>
        </p:nvSpPr>
        <p:spPr>
          <a:xfrm>
            <a:off x="6455664" y="37307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ARS</a:t>
            </a:r>
          </a:p>
        </p:txBody>
      </p:sp>
      <p:cxnSp>
        <p:nvCxnSpPr>
          <p:cNvPr id="54" name="Connector 53">
            <a:extLst>
              <a:ext uri="{FF2B5EF4-FFF2-40B4-BE49-F238E27FC236}">
                <a16:creationId xmlns:a16="http://schemas.microsoft.com/office/drawing/2014/main" id="{93A27C76-3F8A-C525-A474-50A1150E221E}"/>
              </a:ext>
            </a:extLst>
          </p:cNvPr>
          <p:cNvCxnSpPr/>
          <p:nvPr/>
        </p:nvCxnSpPr>
        <p:spPr>
          <a:xfrm>
            <a:off x="6007608" y="37398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32014161-0030-3104-A7C6-48F18F54024F}"/>
              </a:ext>
            </a:extLst>
          </p:cNvPr>
          <p:cNvSpPr/>
          <p:nvPr/>
        </p:nvSpPr>
        <p:spPr>
          <a:xfrm>
            <a:off x="7754112" y="3246120"/>
            <a:ext cx="1143000" cy="987552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FB9A2F-F6D4-1426-34DA-B269544E61B2}"/>
              </a:ext>
            </a:extLst>
          </p:cNvPr>
          <p:cNvSpPr txBox="1"/>
          <p:nvPr/>
        </p:nvSpPr>
        <p:spPr>
          <a:xfrm>
            <a:off x="7900416" y="33558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8F749B-B16B-B236-EEDD-9E87655EFE52}"/>
              </a:ext>
            </a:extLst>
          </p:cNvPr>
          <p:cNvSpPr txBox="1"/>
          <p:nvPr/>
        </p:nvSpPr>
        <p:spPr>
          <a:xfrm>
            <a:off x="7900416" y="37307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DRS</a:t>
            </a:r>
          </a:p>
        </p:txBody>
      </p:sp>
      <p:cxnSp>
        <p:nvCxnSpPr>
          <p:cNvPr id="58" name="Connector 57">
            <a:extLst>
              <a:ext uri="{FF2B5EF4-FFF2-40B4-BE49-F238E27FC236}">
                <a16:creationId xmlns:a16="http://schemas.microsoft.com/office/drawing/2014/main" id="{1F7C8F90-3566-F155-E576-9F6930C6FE0C}"/>
              </a:ext>
            </a:extLst>
          </p:cNvPr>
          <p:cNvCxnSpPr/>
          <p:nvPr/>
        </p:nvCxnSpPr>
        <p:spPr>
          <a:xfrm>
            <a:off x="7452360" y="37398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079FFF34-3231-F4EC-FF1A-9C914695611B}"/>
              </a:ext>
            </a:extLst>
          </p:cNvPr>
          <p:cNvSpPr/>
          <p:nvPr/>
        </p:nvSpPr>
        <p:spPr>
          <a:xfrm>
            <a:off x="9198864" y="3246120"/>
            <a:ext cx="1143000" cy="987552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D99A83-7241-8519-77BC-35DC9B07EAF8}"/>
              </a:ext>
            </a:extLst>
          </p:cNvPr>
          <p:cNvSpPr txBox="1"/>
          <p:nvPr/>
        </p:nvSpPr>
        <p:spPr>
          <a:xfrm>
            <a:off x="9345168" y="33558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4EDF2A-F003-3E0A-3152-5940D793EAB6}"/>
              </a:ext>
            </a:extLst>
          </p:cNvPr>
          <p:cNvSpPr txBox="1"/>
          <p:nvPr/>
        </p:nvSpPr>
        <p:spPr>
          <a:xfrm>
            <a:off x="9345168" y="37307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Digital</a:t>
            </a:r>
            <a:br/>
            <a:r>
              <a:t>IPOS</a:t>
            </a:r>
          </a:p>
        </p:txBody>
      </p:sp>
      <p:cxnSp>
        <p:nvCxnSpPr>
          <p:cNvPr id="62" name="Connector 61">
            <a:extLst>
              <a:ext uri="{FF2B5EF4-FFF2-40B4-BE49-F238E27FC236}">
                <a16:creationId xmlns:a16="http://schemas.microsoft.com/office/drawing/2014/main" id="{BFB78DD5-8409-A406-1648-803252CD8C6A}"/>
              </a:ext>
            </a:extLst>
          </p:cNvPr>
          <p:cNvCxnSpPr/>
          <p:nvPr/>
        </p:nvCxnSpPr>
        <p:spPr>
          <a:xfrm>
            <a:off x="8897112" y="37398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9295298-20F8-CC44-D05E-63A805F13F5E}"/>
              </a:ext>
            </a:extLst>
          </p:cNvPr>
          <p:cNvSpPr/>
          <p:nvPr/>
        </p:nvSpPr>
        <p:spPr>
          <a:xfrm>
            <a:off x="10643616" y="3246120"/>
            <a:ext cx="1143000" cy="987552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6A7057-E587-EA0E-21C2-54611CC84937}"/>
              </a:ext>
            </a:extLst>
          </p:cNvPr>
          <p:cNvSpPr txBox="1"/>
          <p:nvPr/>
        </p:nvSpPr>
        <p:spPr>
          <a:xfrm>
            <a:off x="10789920" y="3355848"/>
            <a:ext cx="85039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36A7455-D6C5-27D3-0DD3-47979BFD7A53}"/>
              </a:ext>
            </a:extLst>
          </p:cNvPr>
          <p:cNvSpPr txBox="1"/>
          <p:nvPr/>
        </p:nvSpPr>
        <p:spPr>
          <a:xfrm>
            <a:off x="10789920" y="3730752"/>
            <a:ext cx="850392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Analog</a:t>
            </a:r>
            <a:br/>
            <a:r>
              <a:t>IPOS</a:t>
            </a:r>
          </a:p>
        </p:txBody>
      </p:sp>
      <p:cxnSp>
        <p:nvCxnSpPr>
          <p:cNvPr id="66" name="Connector 65">
            <a:extLst>
              <a:ext uri="{FF2B5EF4-FFF2-40B4-BE49-F238E27FC236}">
                <a16:creationId xmlns:a16="http://schemas.microsoft.com/office/drawing/2014/main" id="{58CE861C-FA4C-F953-708C-FDB99CF027BD}"/>
              </a:ext>
            </a:extLst>
          </p:cNvPr>
          <p:cNvCxnSpPr/>
          <p:nvPr/>
        </p:nvCxnSpPr>
        <p:spPr>
          <a:xfrm>
            <a:off x="10341864" y="3739896"/>
            <a:ext cx="301752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45118C1B-2B84-6207-36FD-3ADE261E0E55}"/>
              </a:ext>
            </a:extLst>
          </p:cNvPr>
          <p:cNvSpPr txBox="1"/>
          <p:nvPr/>
        </p:nvSpPr>
        <p:spPr>
          <a:xfrm>
            <a:off x="713232" y="4892040"/>
            <a:ext cx="10789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400" b="0">
                <a:solidFill>
                  <a:srgbClr val="17324D"/>
                </a:solidFill>
              </a:defRPr>
            </a:pPr>
            <a:r>
              <a:t>Yellow: human review or approval boundary     Green: canonical-state transition     Blue: deterministic generation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0D6945-FAAF-3479-5EE6-183D11F64E6E}"/>
              </a:ext>
            </a:extLst>
          </p:cNvPr>
          <p:cNvSpPr txBox="1"/>
          <p:nvPr/>
        </p:nvSpPr>
        <p:spPr>
          <a:xfrm>
            <a:off x="713232" y="5303520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700" b="0">
                <a:solidFill>
                  <a:srgbClr val="17324D"/>
                </a:solidFill>
              </a:defRPr>
            </a:pPr>
            <a:r>
              <a:t>Each transition records artifacts and evidence. Authoritative downstream work begins only from the approved immutable snapshot.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67B3F7D-8BC6-8224-83F0-20158B8FFF7D}"/>
              </a:ext>
            </a:extLst>
          </p:cNvPr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B33FAD1-6309-5BC3-C7AA-C128BFD8AB7B}"/>
              </a:ext>
            </a:extLst>
          </p:cNvPr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5B33E0-6DFF-F101-18BF-AD54BCB6FE8B}"/>
              </a:ext>
            </a:extLst>
          </p:cNvPr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48809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Authority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What is authoritative and what is derived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74720" cy="205740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" y="1344168"/>
            <a:ext cx="31821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Canonical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719072"/>
            <a:ext cx="3182112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data/canonical/canonical_store.sqlite</a:t>
            </a:r>
            <a:br/>
            <a:r>
              <a:t>Requirement revisions, reviews, approvals, snapshots, audit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234440"/>
            <a:ext cx="3474720" cy="205740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7136" y="1344168"/>
            <a:ext cx="31821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Approval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7136" y="1719072"/>
            <a:ext cx="3182112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Approved vocabulary, taxonomy, architecture profile, mapping decision, and immutable snapshot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474720" cy="205740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344168"/>
            <a:ext cx="318211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Derived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719072"/>
            <a:ext cx="3182112" cy="1472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Retrieval/index SQLite, CSV, JSON, Markdown, XLSX, SysML, reports, and GUI views are replaceable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39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17324D"/>
                </a:solidFill>
              </a:defRPr>
            </a:pPr>
            <a:r>
              <a:t>Authoritative outputs require an approved snapshot selector. Derived files carry provenance but never become the source of truth.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241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17324D"/>
                </a:solidFill>
              </a:defRPr>
            </a:pPr>
            <a:r>
              <a:t>Audit and rollback preserve history: a rollback supersedes prior state and requires a new approved snapshot; it never deletes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S0-S2: Establish A Reviewable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Source evidence becomes a governed draft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07008"/>
            <a:ext cx="3383280" cy="169164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S0 Primary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Lock the approved primary source identity, metadata, tag policy, and bootstrap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07008"/>
            <a:ext cx="3383280" cy="169164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114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S1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OCR, parse, preserve source IDs and provenance; construct the integrated requirements corpus.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07008"/>
            <a:ext cx="3383280" cy="169164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7590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S2 Classification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Create deterministic staging objects, classification evidence, specs baseline, and mapping preview.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55848"/>
            <a:ext cx="3383280" cy="169164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Gate discipline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Stage 1 is the only direct source reader. Stage 2+ consume artifacts only; independence guard enforces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355848"/>
            <a:ext cx="3383280" cy="169164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114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Source fidelity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Stable IDs, verbatim source statements, provenance, duplicate detection, and recovery review prevent silent loss.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55848"/>
            <a:ext cx="3383280" cy="169164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7590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Review package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Editable mapping preview, profile draft, approval request, summaries, traceability, and ambiguity dispositions.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S2A-S2D: Review And Canonical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Supplementary sources are additive, not a replacement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07008"/>
            <a:ext cx="3383280" cy="169164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S2A Staging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Review supplementary source candidates and their evidence before accepting any additions.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07008"/>
            <a:ext cx="3383280" cy="169164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114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S2B Merge Impact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Identify changed requirements, affected mappings, snapshots, specifications, SysML, and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07008"/>
            <a:ext cx="3383280" cy="169164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7590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S2C Merge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Explicit reviewer decision authorizes the non-destructive merge into canonical history.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55848"/>
            <a:ext cx="3383280" cy="169164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S2D Canonical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Create revisions in canonical SQLite. Merge by source_req_id and retain historical audit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355848"/>
            <a:ext cx="3383280" cy="169164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114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No silent reuse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Changed corpus evidence invalidates current mapping and snapshot; prior approvals remain historical only.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55848"/>
            <a:ext cx="3383280" cy="169164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7590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Incremental 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The dependent workflow is recomputed from the updated baseline without destructive restart.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S2E-S2H: Approved Architecture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The boundary before authoritative engineering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07008"/>
            <a:ext cx="3383280" cy="169164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S2E Refresh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Refresh ontology, vocabulary candidates, taxonomy context, and rebuildable retrieval indexes.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07008"/>
            <a:ext cx="3383280" cy="169164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114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S2F Architecture Map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Reviewer confirms or changes every requirement-to-block mapping, classification, decision, and notes.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07008"/>
            <a:ext cx="3383280" cy="169164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7590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S2G Mapping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Accept only approved or reassigned rows; require matching evidence hashes, reviewer identity, and resolved critical/major ambiguities.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55848"/>
            <a:ext cx="3383280" cy="169164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S2H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Freeze immutable approved mapping plus canonical revision, profile, vocabulary, taxonomy, and retrieval metadata.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355848"/>
            <a:ext cx="3383280" cy="169164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114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Mapping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Stage 2A validates ontology links, role evidence, functions, properties, relationships, and traceability.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55848"/>
            <a:ext cx="3383280" cy="169164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7590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Consumer boundary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Downstream generators resolve an explicit approved snapshot, never a mutable artifact file.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Stages 3-7: Produce Engineering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All generation is deterministic and snapshot-backed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07008"/>
            <a:ext cx="3383280" cy="169164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Stage 3 SRS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Generate system requirements and scoped descriptive sections from the approved snapshot; preserve Stage 1 source provenance.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07008"/>
            <a:ext cx="3383280" cy="169164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8114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Stage 4 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Parallel analog derivation from the approved snapshot and its scoped requirements.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07008"/>
            <a:ext cx="3383280" cy="169164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75904" y="131673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Stage 5 DRS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169164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Parallel digital/integration derivation; Stage 1 descriptions retain provenance, not Covers.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55848"/>
            <a:ext cx="3383280" cy="169164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Stage 6 Digital IPOS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Block-local requirements keep approved parent Covers and direct Stage 1 source origin in traceability.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355848"/>
            <a:ext cx="3383280" cy="169164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8114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Stage 7 Analog IPOS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14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Block-local requirements keep approved parent Covers and direct Stage 1 source origin in traceability.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355848"/>
            <a:ext cx="3383280" cy="169164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75904" y="3465576"/>
            <a:ext cx="30906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SysML and reports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840480"/>
            <a:ext cx="3090672" cy="11064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Generate derived SysML, traceability reports, XLSX, and documentation with snapshot provenance.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Traceability And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Separate descriptive provenance from normative 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1A8E8A"/>
                </a:solidFill>
              </a:defRPr>
            </a:pPr>
            <a:r>
              <a:t>DESCRIPTIVE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53312"/>
            <a:ext cx="3154680" cy="96012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463040"/>
            <a:ext cx="28620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Stage 1 source catalog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37943"/>
            <a:ext cx="2862072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Source-backed descriptions, IDs, and location provenance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98848" y="1353312"/>
            <a:ext cx="3154680" cy="96012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45152" y="1463040"/>
            <a:ext cx="28620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Descriptive sections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37943"/>
            <a:ext cx="2862072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Scoped, supported prose; no new requirements or normative Covers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39327" y="1353312"/>
            <a:ext cx="3154680" cy="960120"/>
          </a:xfrm>
          <a:prstGeom prst="roundRect">
            <a:avLst/>
          </a:prstGeom>
          <a:solidFill>
            <a:srgbClr val="FFF4D7"/>
          </a:solidFill>
          <a:ln w="13970">
            <a:solidFill>
              <a:srgbClr val="DA99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85632" y="1463040"/>
            <a:ext cx="28620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DA9921"/>
                </a:solidFill>
              </a:defRPr>
            </a:pPr>
            <a:r>
              <a:t>Provenance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1837943"/>
            <a:ext cx="2862072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Retain the Stage 1/source reference separately from requirement hierarchy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3048" y="1833372"/>
            <a:ext cx="685800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53528" y="1833372"/>
            <a:ext cx="685799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8368" y="2761488"/>
            <a:ext cx="4572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300" b="1">
                <a:solidFill>
                  <a:srgbClr val="2C70A8"/>
                </a:solidFill>
              </a:defRPr>
            </a:pPr>
            <a:r>
              <a:t>NORMATIVE REQUIREMENT LINEAGE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90672"/>
            <a:ext cx="3154680" cy="96012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200400"/>
            <a:ext cx="28620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Approved snapshot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575304"/>
            <a:ext cx="2862072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IDs, allocation, ownership, and approved lineage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98848" y="3090672"/>
            <a:ext cx="3154680" cy="960120"/>
          </a:xfrm>
          <a:prstGeom prst="roundRect">
            <a:avLst/>
          </a:prstGeom>
          <a:solidFill>
            <a:srgbClr val="E1EEF8"/>
          </a:solidFill>
          <a:ln w="13970">
            <a:solidFill>
              <a:srgbClr val="2C70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45152" y="3200400"/>
            <a:ext cx="28620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2C70A8"/>
                </a:solidFill>
              </a:defRPr>
            </a:pPr>
            <a:r>
              <a:t>SRS / ARS / DRS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3575304"/>
            <a:ext cx="2862072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Parallel semantic derivations; execution order is not authority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39327" y="3090672"/>
            <a:ext cx="3154680" cy="960120"/>
          </a:xfrm>
          <a:prstGeom prst="roundRect">
            <a:avLst/>
          </a:prstGeom>
          <a:solidFill>
            <a:srgbClr val="DDF2EF"/>
          </a:solidFill>
          <a:ln w="13970">
            <a:solidFill>
              <a:srgbClr val="1A8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85632" y="3200400"/>
            <a:ext cx="2862072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500" b="1">
                <a:solidFill>
                  <a:srgbClr val="1A8E8A"/>
                </a:solidFill>
              </a:defRPr>
            </a:pPr>
            <a:r>
              <a:t>IPOS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85632" y="3575304"/>
            <a:ext cx="2862072" cy="3749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0">
                <a:solidFill>
                  <a:srgbClr val="17324D"/>
                </a:solidFill>
              </a:defRPr>
            </a:pPr>
            <a:r>
              <a:t>Covers the approved parent when present; traceability also keeps direct Stage 1 origin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13048" y="3570732"/>
            <a:ext cx="685800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653528" y="3570732"/>
            <a:ext cx="685799" cy="0"/>
          </a:xfrm>
          <a:prstGeom prst="line">
            <a:avLst/>
          </a:prstGeom>
          <a:ln w="17780">
            <a:solidFill>
              <a:srgbClr val="2C70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49808" y="4617720"/>
            <a:ext cx="10698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7324D"/>
                </a:solidFill>
              </a:defRPr>
            </a:pPr>
            <a:r>
              <a:t>Direct source-to-IPOS is permitted only for explicitly approved lineage with no meaningful intermediate requirement; do not invent a parent.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5230368"/>
            <a:ext cx="106984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17324D"/>
                </a:solidFill>
              </a:defRPr>
            </a:pPr>
            <a:r>
              <a:t>Coverage joins use exact approved IDs. Descriptive source links remain provenance, not requirement coverage.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Gate And Approval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Fail closed; retain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A gate validates the outputs of its preceding deterministic stage and stops advancement on failure.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A human approval validates a review decision, identity, timestamp, evidence hashes, and required dispositions.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No retry loops or backwards transitions are implicit. Correct the blocker, then rerun the affected stage or allowed forward range.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S2B-S2H are authority boundaries coordinated by canonical services and GUI controls, not ordinary CLI generation stages.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Deterministic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Transparent, repeatable, local-only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workflow_cli.py runs a selected executable stage once, then its validator once, in forward order.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A nonzero runner or validator result stops the selected range immediately.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The legacy contiguous CLI path remains available for executable stages; review-only steps route to GUI/service actions.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Local scripts and artifacts implement runtime behavior. Agents define specialized design-time responsibilities; standard execution makes no LLM, network, or cloud calls.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Operator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Human decisions remain explicit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Run source baseline, extraction, and classification; inspect Gate 0, Gate 1, and Gate 2 evidence.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Use the GUI review workspaces for supplementary sources and Architecture Map Review. Save review decisions explicitly.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Approve the mapping only after all required rows, hashes, reviewer identity, and ambiguity dispositions are valid.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Create or select an approved snapshot before generating specifications, IPOS outputs, SysML, or authoritative reports.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Use the System Traceability GUI view and generated reports to inspect coverage, direct links, and gaps.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Run from the STBIO_AI repository 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python scripts/workflow_gui.py     Desktop review, approval, artifact, and traceability workspace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python scripts/workflow_cli.py status     Report runner/validator state and lock status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python scripts/run_stage1_requirements_gate1.py     Source extraction and Gate 1 flow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python scripts/run_stage1_specs_gate2.py     Specs, mapping preview, and Gate 2 flow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python scripts/run_stage2_micro_arc_gate.py     Validated architecture mapping flow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python scripts/workflow_cli.py validate --all     Validate the available gate 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146304"/>
            <a:ext cx="2514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0">
                <a:solidFill>
                  <a:srgbClr val="E1EEF8"/>
                </a:solidFill>
              </a:defRPr>
            </a:pPr>
            <a:r>
              <a:t>Engineering evidence you can inspect and rerun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Source-faithful requirements retain stable identity and evidence provenance from ingestion through deliverables.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Architecture ownership is reviewed, hash-bound, and frozen before it is used to author specifications.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Canonical data, approvals, snapshots, and audit history make each authoritative result reproducible.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Derived artifacts remain inspectable and regenerable without creating competing workflow authority.</a:t>
            </a:r>
          </a:p>
          <a:p>
            <a:pPr>
              <a:spcAft>
                <a:spcPts val="1600"/>
              </a:spcAft>
              <a:defRPr sz="2000">
                <a:solidFill>
                  <a:srgbClr val="17324D"/>
                </a:solidFill>
              </a:defRPr>
            </a:pPr>
            <a:r>
              <a:t>The result is a disciplined handoff from source document to traceable system, detailed, analog, and IP specifications.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E1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7724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0">
                <a:solidFill>
                  <a:srgbClr val="2C70A8"/>
                </a:solidFill>
              </a:defRPr>
            </a:pPr>
            <a:r>
              <a:t>STBIO AI | Deterministic, stage-gated engineering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5486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2C70A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f8c7287-838c-46dd-b281-b1140229e67a}" enabled="1" method="Privileged" siteId="{75e027c9-20d5-47d5-b82f-77d7cd041e8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76</TotalTime>
  <Words>1586</Words>
  <Application>Microsoft Office PowerPoint</Application>
  <PresentationFormat>Widescreen</PresentationFormat>
  <Paragraphs>217</Paragraphs>
  <Slides>20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ST PowerPoint Template 16x9</vt:lpstr>
      <vt:lpstr>Presentation title on multiple lines</vt:lpstr>
      <vt:lpstr>Agenda</vt:lpstr>
      <vt:lpstr>PowerPoint Presentation</vt:lpstr>
      <vt:lpstr>Section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Lucio IANNUZZI</dc:creator>
  <cp:keywords/>
  <cp:lastModifiedBy>Alessandro Lucio IANNUZZI</cp:lastModifiedBy>
  <cp:revision>3</cp:revision>
  <dcterms:created xsi:type="dcterms:W3CDTF">2026-08-18T09:14:56Z</dcterms:created>
  <dcterms:modified xsi:type="dcterms:W3CDTF">2026-10-01T14:01:02Z</dcterms:modified>
</cp:coreProperties>
</file>